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8EDF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E8EDF5"/>
                </a:solidFill>
                <a:latin typeface="Arial"/>
              </a:rPr>
              <a:t>Tick Time vs Drone Count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 Time (ms)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8ED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</c:v>
                  </c:pt>
                  <c:pt idx="1">
                    <c:v>50</c:v>
                  </c:pt>
                  <c:pt idx="2">
                    <c:v>100</c:v>
                  </c:pt>
                  <c:pt idx="3">
                    <c:v>200</c:v>
                  </c:pt>
                  <c:pt idx="4">
                    <c:v>500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</c:v>
                </c:pt>
                <c:pt idx="1">
                  <c:v>4.2</c:v>
                </c:pt>
                <c:pt idx="2">
                  <c:v>16.1</c:v>
                </c:pt>
                <c:pt idx="3">
                  <c:v>63.5</c:v>
                </c:pt>
                <c:pt idx="4">
                  <c:v>398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E8ED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2204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8EDF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E8EDF5"/>
                </a:solidFill>
                <a:latin typeface="Arial"/>
              </a:rPr>
              <a:t>Real-time Ratio (higher =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Real-time Ratio</c:v>
                </c:pt>
              </c:strCache>
            </c:strRef>
          </c:tx>
          <c:spPr>
            <a:solidFill>
              <a:srgbClr val="06D6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8ED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</c:v>
                  </c:pt>
                  <c:pt idx="1">
                    <c:v>50</c:v>
                  </c:pt>
                  <c:pt idx="2">
                    <c:v>100</c:v>
                  </c:pt>
                  <c:pt idx="3">
                    <c:v>200</c:v>
                  </c:pt>
                  <c:pt idx="4">
                    <c:v>500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1250</c:v>
                </c:pt>
                <c:pt idx="1">
                  <c:v>238</c:v>
                </c:pt>
                <c:pt idx="2">
                  <c:v>62</c:v>
                </c:pt>
                <c:pt idx="3">
                  <c:v>16</c:v>
                </c:pt>
                <c:pt idx="4">
                  <c:v>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E8ED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2204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Modules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bubble3D val="0"/>
            <c:spPr>
              <a:solidFill>
                <a:srgbClr val="FFB703"/>
              </a:solidFill>
              <a:effectLst/>
            </c:spPr>
          </c:dPt>
          <c:dPt>
            <c:idx val="2"/>
            <c:bubble3D val="0"/>
            <c:spPr>
              <a:solidFill>
                <a:srgbClr val="FB8500"/>
              </a:solidFill>
              <a:effectLst/>
            </c:spPr>
          </c:dPt>
          <c:dPt>
            <c:idx val="3"/>
            <c:bubble3D val="0"/>
            <c:spPr>
              <a:solidFill>
                <a:srgbClr val="06D6A0"/>
              </a:solidFill>
              <a:effectLst/>
            </c:spPr>
          </c:dPt>
          <c:dPt>
            <c:idx val="4"/>
            <c:bubble3D val="0"/>
            <c:spPr>
              <a:solidFill>
                <a:srgbClr val="0891B2"/>
              </a:solidFill>
              <a:effectLst/>
            </c:spPr>
          </c:dPt>
          <c:dPt>
            <c:idx val="5"/>
            <c:bubble3D val="0"/>
            <c:spPr>
              <a:solidFill>
                <a:srgbClr val="8B5CF6"/>
              </a:solidFill>
              <a:effectLst/>
            </c:spPr>
          </c:dPt>
          <c:dPt>
            <c:idx val="6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Python (580)</c:v>
                </c:pt>
                <c:pt idx="1">
                  <c:v>Zig (15)</c:v>
                </c:pt>
                <c:pt idx="2">
                  <c:v>Rust (15)</c:v>
                </c:pt>
                <c:pt idx="3">
                  <c:v>Go (14)</c:v>
                </c:pt>
                <c:pt idx="4">
                  <c:v>C++ (14)</c:v>
                </c:pt>
                <c:pt idx="5">
                  <c:v>Fortran (9)</c:v>
                </c:pt>
                <c:pt idx="6">
                  <c:v>Others (100+)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580</c:v>
                </c:pt>
                <c:pt idx="1">
                  <c:v>15</c:v>
                </c:pt>
                <c:pt idx="2">
                  <c:v>15</c:v>
                </c:pt>
                <c:pt idx="3">
                  <c:v>14</c:v>
                </c:pt>
                <c:pt idx="4">
                  <c:v>14</c:v>
                </c:pt>
                <c:pt idx="5">
                  <c:v>9</c:v>
                </c:pt>
                <c:pt idx="6">
                  <c:v>100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73152" cy="2560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SDACS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Drone Airspace Control System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군집드론 공역통제 자동화 시스템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023360"/>
            <a:ext cx="9144000" cy="1097280"/>
          </a:xfrm>
          <a:prstGeom prst="rect">
            <a:avLst/>
          </a:prstGeom>
          <a:solidFill>
            <a:srgbClr val="12204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60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장선우 (Sunwoo Jang)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국립 목포대학교 드론기계공학과  |  캡스톤 디자인 2026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Phase 660  |  590+ Modules  |  2,620+ Tests  |  50+ Languages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SDACS — Mokpo National Univ.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해결하려는 문제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등록 드론 90만대 돌파, 연간 30% 증가 — 저고도 공역 충돌 위험 급증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560320" cy="237744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63040"/>
            <a:ext cx="54864" cy="2377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00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고정형 레이더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비용 수억원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소형 드론 탐지 불가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6개월 설치 기간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1463040"/>
            <a:ext cx="2560320" cy="237744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463040"/>
            <a:ext cx="54864" cy="237744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1600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8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중앙 집중식 관제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1880" y="21031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장애점(SPOF)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실시간성 부족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K-UTM 한계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2560320" cy="237744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463040"/>
            <a:ext cx="54864" cy="237744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600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수동 관제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21031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5분 지연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인력 비용 과다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 불가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SDACS의 해답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00400" y="4114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드론 자체를 이동형 레이더로 활용 → 30분 긴급배치, 완전자동 충돌회피, 무한 확장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SDACS — Mokpo National Univ.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SDACS 접근 방식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54864" cy="10972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5448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레이더를 드론으로 대체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16002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고정 인프라 없이 30분 내 긴급 배치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 드론이 이동형 가상 레이더 돔 형성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8046720" cy="109728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377440"/>
            <a:ext cx="54864" cy="109728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554480" y="2468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탐지 → 판단 → 회피 자동화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2880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90초 전 선제 충돌 예측 (CPA)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6종 자동 어드바이저리 발행 (&lt;1초)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657600"/>
            <a:ext cx="54864" cy="109728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554480" y="3749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분산 아키텍처로 무한 확장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1605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드론 추가만으로 관제 반경 선형 확장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장애점(SPOF) 완전 제거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SDACS — Mokpo National Univ.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시스템 아키텍처 (4계층)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8046720" cy="77724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51560"/>
            <a:ext cx="54864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Layer 4: User Interface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4447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(main.py) + Dash 3D Visualizer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8046720" cy="77724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011680"/>
            <a:ext cx="54864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Layer 3: Simulation Engine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4048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SwarmSimulator + WindModel + Monte Carlo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8046720" cy="77724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971800"/>
            <a:ext cx="54864" cy="7772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Layer 2: Control System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3649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AirspaceController 1Hz + Priority Queue + Advisory Gen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931920"/>
            <a:ext cx="54864" cy="77724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977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Layer 1: Drone Agents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43251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_DroneAgent 10Hz SimPy process × N drones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97680" y="1828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97680" y="2788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▼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97680" y="3749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▼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SDACS — Mokpo National Univ.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 흐름 아키텍처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011680" cy="310896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54864" cy="310896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10Hz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Agent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1645920" cy="0"/>
          </a:xfrm>
          <a:prstGeom prst="line">
            <a:avLst/>
          </a:prstGeom>
          <a:noFill/>
          <a:ln w="12700">
            <a:solidFill>
              <a:srgbClr val="FFB703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4884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위치/속도/배터리 물리 갱신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WindModel 풍 벡터 적용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APF 합력 계산 (EVADING 시)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1097280"/>
            <a:ext cx="2011680" cy="310896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097280"/>
            <a:ext cx="54864" cy="31089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1234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1Hz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743200" y="1600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Airspace Controller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0" y="2011680"/>
            <a:ext cx="1645920" cy="0"/>
          </a:xfrm>
          <a:prstGeom prst="line">
            <a:avLst/>
          </a:prstGeom>
          <a:noFill/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214884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CPA 스캔 (90초 예측)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Voronoi 분할 갱신 (10초)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자동 생성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2011680" cy="310896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097280"/>
            <a:ext cx="54864" cy="31089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234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Event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937760" y="1600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Bus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37760" y="2011680"/>
            <a:ext cx="1645920" cy="0"/>
          </a:xfrm>
          <a:prstGeom prst="line">
            <a:avLst/>
          </a:prstGeom>
          <a:noFill/>
          <a:ln w="12700">
            <a:solidFill>
              <a:srgbClr val="06D6A0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14884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20±5ms 지연 모델링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 기반 이웃 탐색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패킷 손실률 시뮬레이션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49440" y="1097280"/>
            <a:ext cx="2011680" cy="310896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49440" y="1097280"/>
            <a:ext cx="54864" cy="3108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0" y="1234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132320" y="1600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KPI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132320" y="2011680"/>
            <a:ext cx="1645920" cy="0"/>
          </a:xfrm>
          <a:prstGeom prst="line">
            <a:avLst/>
          </a:prstGeom>
          <a:noFill/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0" y="214884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충돌해결률, 경로효율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어드바이저리 지연시간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에너지 소비량 계산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28600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▶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8056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▶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7512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▶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SDACS — Mokpo National Univ.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알고리즘 (1) — 충돌 탐지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8046720" cy="82296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51560"/>
            <a:ext cx="54864" cy="8229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1247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490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Point of Approach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51760" y="112471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쌍별 스캔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90초 선제 예측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분리기준 동적 조정 (풍속 연동)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0" y="1188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011680"/>
            <a:ext cx="54864" cy="8229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0848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Voronoi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2450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Tessellation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51760" y="208483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10초 주기 동적 갱신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밀도 기반 셀 분리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Sutherland-Hodgman 클리핑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0" y="2148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log N)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2971800"/>
            <a:ext cx="8046720" cy="82296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971800"/>
            <a:ext cx="54864" cy="82296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0449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SpatialHash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77240" y="3410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Uniform Grid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51760" y="304495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 셀 크기 균일 격자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→ O(N·k) 최적화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충돌/근접/위협 3단계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O(N·k)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931920"/>
            <a:ext cx="54864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0050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Geofence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77240" y="43708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Monitor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51760" y="400507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공역 경계 90% 이탈 감지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RTL(Return to Launch)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침입 드론 실시간 탐지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0" y="4069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SDACS — Mokpo National Univ.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알고리즘 (2) — 충돌 해결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840480" cy="228600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54864" cy="2286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APF Engine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Potential Field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5"/>
                </a:solidFill>
              </a:rPr>
              <a:t>Normal: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k_rep=2.5, d0=50m, max=10m/s²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</a:rPr>
              <a:t>Windy: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k_rep=6.5, d0=80m, max=22m/s²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6~12 m/s 구간: 선형 보간(lerp) 전환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CFIT 방지: z&lt;5m 지면 척력장 활성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840480" cy="228600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54864" cy="22860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CBS Planner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Conflict-Based Search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182880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High-level: 충돌 트리 탐색 + 제약 분기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Low-level: 시공간 A* (7방향 + 대기)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Grid: 50m, Max 100K expansions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Wall-clock timeout: 5s(A*) / 10s(CBS)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8046720" cy="109728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520440"/>
            <a:ext cx="54864" cy="109728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Resolution Advisory — 6종 회피 명령 자동 분류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CLIMB  |  DESCEND  |  TURN_LEFT  |  TURN_RIGHT  |  EVADE_APF  |  HOLD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251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기하학적 분류: 수직 분리 우선 → 360° 방위각 판정 → 폐쇄속도 비례 지속시간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SDACS — Mokpo National Univ.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성과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011680" cy="274320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43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충돌 해결률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331720"/>
            <a:ext cx="1097280" cy="0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688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20대 규모 600s 시뮬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충돌 0건 / 해결률 100%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005840"/>
            <a:ext cx="2011680" cy="274320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51760" y="1143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65176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선제 예측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017520" y="2331720"/>
            <a:ext cx="10972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24688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기반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1Hz 연속 스캔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2011680" cy="274320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1143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&lt;1s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84632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어드바이저리 지연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212080" y="2331720"/>
            <a:ext cx="1097280" cy="0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4688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6종 자동 회피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&lt; 0.8초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1005840"/>
            <a:ext cx="2011680" cy="274320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40880" y="1143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38.4K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704088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검증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406640" y="2331720"/>
            <a:ext cx="109728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24688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384설정 × 100시드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통계적 신뢰성 확보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39319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500+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371600" y="3931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 운용 드론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60320" y="39319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30분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566160" y="3931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긴급 배치 시간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39319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2,620+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760720" y="3931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 테스트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49440" y="39319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955280" y="3931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시나리오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SDACS — Mokpo National Univ.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시나리오 검증 체계 (7대 시나리오)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3200400"/>
        </p:xfrm>
        <a:graphic>
          <a:graphicData uri="http://schemas.openxmlformats.org/drawingml/2006/table">
            <a:tbl>
              <a:tblPr/>
              <a:tblGrid>
                <a:gridCol w="457200"/>
                <a:gridCol w="2011680"/>
                <a:gridCol w="914400"/>
                <a:gridCol w="914400"/>
                <a:gridCol w="37490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Drones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Duration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Test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Normal Operation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60s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기본 충돌 해결률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High Density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50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60s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밀집 환경 성능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Weather Disturbance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60s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풍속 15m/s 강풍 대응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Communication Loss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60s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통신 두절 시 자율 회피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Intruder Response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60s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미등록 드론 탐지/대응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Emergency Landing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60s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모터/배터리/GPS 고장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Mass Delivery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120s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대규모 배송 동시 운용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SDACS — Mokpo National Univ.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Monte Carlo SLA 검증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840480" cy="146304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54864" cy="1463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097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Quick Mode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configs × 30 seeds = 960 runs (~4분)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840480" cy="146304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54864" cy="146304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097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Mode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 configs × 100 seeds = 38,400 runs (~3.3h)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SLA 합격 기준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80467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423160"/>
                <a:gridCol w="2423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Threshold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충돌률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0건/1,000h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Hard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충돌 해결률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≥99.5%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Hard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응답 P99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≤10.0초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Hard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침입 탐지 P90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≤5.0초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Hard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경로 효율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≤1.15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Soft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SDACS — Mokpo National Univ.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드론 프로파일 (5종)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600200" cy="347472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54864" cy="3474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43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COMMERCIAL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DELIVERY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965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Speed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167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m/s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560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761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80Wh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3154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Endurance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3355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" y="3749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3950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011680" y="1005840"/>
            <a:ext cx="1600200" cy="347472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11680" y="100584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2148840" y="1143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SURVEILLANCE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48840" y="1965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Speed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48840" y="2167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m/s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148840" y="2560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48840" y="2761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100Wh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148840" y="3154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Endurance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48840" y="3355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45min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148840" y="3749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148840" y="3950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749040" y="1005840"/>
            <a:ext cx="1600200" cy="347472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49040" y="1005840"/>
            <a:ext cx="54864" cy="3474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3886200" y="1143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EMERGENCY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86200" y="1965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Speed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86200" y="2167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m/s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886200" y="2560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86200" y="2761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60Wh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886200" y="3154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Endurance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886200" y="3355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20min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886200" y="3749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886200" y="3950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486400" y="1005840"/>
            <a:ext cx="1600200" cy="347472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86400" y="1005840"/>
            <a:ext cx="54864" cy="34747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0" name="Text 38"/>
          <p:cNvSpPr/>
          <p:nvPr/>
        </p:nvSpPr>
        <p:spPr>
          <a:xfrm>
            <a:off x="5623560" y="1143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RECREATIONAL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623560" y="1965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Speed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623560" y="2167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m/s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623560" y="2560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23560" y="2761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30Wh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623560" y="3154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Endurance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623560" y="3355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15min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623560" y="3749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623560" y="3950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7223760" y="1005840"/>
            <a:ext cx="1600200" cy="347472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223760" y="1005840"/>
            <a:ext cx="54864" cy="3474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51" name="Text 49"/>
          <p:cNvSpPr/>
          <p:nvPr/>
        </p:nvSpPr>
        <p:spPr>
          <a:xfrm>
            <a:off x="7360920" y="1143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ROGUE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(미등록)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360920" y="1965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Speed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360920" y="2167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m/s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360920" y="2560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360920" y="2761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50Wh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360920" y="3154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Endurance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360920" y="3355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25min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7360920" y="3749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360920" y="3950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SDACS — Mokpo National Univ.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성능 분석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91440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754880" y="91440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충돌 해결률 공식:  CR = 1 − collisions / (conflicts + collisions)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20대 600s: 충돌 0건 (100%) | 50대: 97.9% | 100대: 98.9% — 경로효율 ≤1.12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13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SDACS — Mokpo National Univ.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다중 언어 아키텍처 (50+ Languages)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754880" y="1005840"/>
            <a:ext cx="54864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4"/>
          <p:cNvSpPr/>
          <p:nvPr/>
        </p:nvSpPr>
        <p:spPr>
          <a:xfrm>
            <a:off x="4983480" y="1005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983480" y="1234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Core: simulation, ML/AI, analytics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046720" y="1005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580+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1600200"/>
            <a:ext cx="54864" cy="45720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11" name="Text 8"/>
          <p:cNvSpPr/>
          <p:nvPr/>
        </p:nvSpPr>
        <p:spPr>
          <a:xfrm>
            <a:off x="4983480" y="16002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8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Rust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83480" y="1828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Safety-critical: satellite, verifier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046720" y="1600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754880" y="2194560"/>
            <a:ext cx="54864" cy="4572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5" name="Text 12"/>
          <p:cNvSpPr/>
          <p:nvPr/>
        </p:nvSpPr>
        <p:spPr>
          <a:xfrm>
            <a:off x="4983480" y="2194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983480" y="2423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Concurrent: edge AI, monitor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046720" y="21945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754880" y="2788920"/>
            <a:ext cx="54864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6"/>
          <p:cNvSpPr/>
          <p:nvPr/>
        </p:nvSpPr>
        <p:spPr>
          <a:xfrm>
            <a:off x="4983480" y="2788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C++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983480" y="3017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SLAM, physics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046720" y="2788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754880" y="3383280"/>
            <a:ext cx="54864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0"/>
          <p:cNvSpPr/>
          <p:nvPr/>
        </p:nvSpPr>
        <p:spPr>
          <a:xfrm>
            <a:off x="4983480" y="33832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Fortran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983480" y="3611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Numerical: wind FDM, CFD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046720" y="3383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754880" y="3977640"/>
            <a:ext cx="54864" cy="45720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7" name="Text 24"/>
          <p:cNvSpPr/>
          <p:nvPr/>
        </p:nvSpPr>
        <p:spPr>
          <a:xfrm>
            <a:off x="4983480" y="3977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VHDL/Ada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983480" y="4206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sim, fault tolerance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046720" y="3977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280160"/>
            <a:ext cx="73152" cy="20116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 &amp; 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3657600"/>
            <a:ext cx="9144000" cy="1188720"/>
          </a:xfrm>
          <a:prstGeom prst="rect">
            <a:avLst/>
          </a:prstGeom>
          <a:solidFill>
            <a:srgbClr val="12204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7947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장선우 (Sunwoo Jang)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국립 목포대학교 드론기계공학과  |  캡스톤 디자인 2026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</a:rPr>
              <a:t>github.com/sun475300-sudo/swarm-drone-atc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SDACS — Swarm Drone Airspace Control System</dc:title>
  <dc:subject>PptxGenJS Presentation</dc:subject>
  <dc:creator>Sunwoo Jang</dc:creator>
  <cp:lastModifiedBy>Sunwoo Jang</cp:lastModifiedBy>
  <cp:revision>1</cp:revision>
  <dcterms:created xsi:type="dcterms:W3CDTF">2026-04-06T12:45:20Z</dcterms:created>
  <dcterms:modified xsi:type="dcterms:W3CDTF">2026-04-06T12:45:20Z</dcterms:modified>
</cp:coreProperties>
</file>