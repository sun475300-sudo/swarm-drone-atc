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algun Gothic"/>
              </a:rPr>
              <a:t>SDACS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EF2FF"/>
                </a:solidFill>
                <a:latin typeface="Malgun Gothic"/>
              </a:rPr>
              <a:t>Swarm Drone Airspace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EF2FF"/>
                </a:solidFill>
                <a:latin typeface="Malgun Gothic"/>
              </a:rPr>
              <a:t>도심 저고도 군집드론 공역 실시간 관제 — 특허 출원 전 검토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v3.0  |  2026-04-21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발명자: 선우  |  sun475300@naver.com  |  010-9058-3745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검토자: 지도교수님  |  검토 세션: 30분 + Q&amp;A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01. 발표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F2FF"/>
                </a:solidFill>
                <a:latin typeface="Malgun Gothic"/>
              </a:rPr>
              <a:t>총 30분 / 각 항목 3분 +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문제 정의 — 도심 저고도 군집드론의 4대 난제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SDACS 개요 — 4계층 아키텍처 (L1/L2/L3/L4)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핵심 기술 ① — 동적 3D 지오펜싱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핵심 기술 ② — APF 기반 분산 CD&amp;R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핵심 기술 ③ — 풍속 적응 듀얼모드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핵심 기술 ④ — WebGPU 병렬가속 (38.4×)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Monte-Carlo 검증 결과 — 38,400 runs / 97.8%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선행기술 대비 차별성 &amp; 청구범위 전략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출원 로드맵 (KR→PCT→다국가) 및 예산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Action Items — 교수님께 요청드리는 결정사항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02. 문제 정의 — 왜 새로운 관제 시스템이 필요한가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219456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01 동적 지오펜싱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재난·행사·VIP 이동 등 시간가변 NFZ를 반영 못하는 정적 펜스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219456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02 중앙집중 회피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단일 서버가 N대를 계산 → N&gt;50에서 지연·단일장애점 급증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303520" cy="21945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03 기상 적응 부족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&gt;10 m/s 돌풍 시 드리프트로 경로 이탈률 3–5×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303520" cy="219456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04 실시간 계산 부하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O(N²) 충돌검사로 100대 군집 주기 100ms 달성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03. SDACS 4-계층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L4 · UI /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630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운영자 대시보드 · CLI 명령  |  시나리오 주입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1097280"/>
          </a:xfrm>
          <a:prstGeom prst="round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L3 ·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OSM+VWorld 지도·풍속·시나리오 엔진 (WebGPU)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L2 · 관제기 (1 Hz)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전역 최적화·지오펜스 관리·정책 분배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L1 · 에이전트 (10 Hz)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0292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분산 CD&amp;R · APF · 센서퓨전 · 자가회피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21B6"/>
                </a:solidFill>
                <a:latin typeface="Malgun Gothic"/>
              </a:rPr>
              <a:t>특징: L1 10Hz 실시간 / L2 1Hz 주기 → 계산부하 분산, 중앙 장애시 L1 자율유지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04. 동적 3D 지오펜싱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실린더 / 구 / 프리즘 3종 형상 혼합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TTL(Time-To-Live) 기반 시간가변 펜스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WGS84 → ENU 좌표 실시간 변환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정책 우선순위 (P0 비행금지 &gt; P1 회랑 &gt; P2 권고)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공간 해시(Spatial Hash) 인덱싱 → O(log N) 조회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위반율 0.11% (목표 ≤0.5%, 5× 여유)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120640" cy="4754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3A6B"/>
                </a:solidFill>
                <a:latin typeface="Malgun Gothic"/>
              </a:rPr>
              <a:t>▷ 펜스 형상 예시</a:t>
            </a:r>
          </a:p>
        </p:txBody>
      </p:sp>
      <p:sp>
        <p:nvSpPr>
          <p:cNvPr id="9" name="Connector 8"/>
          <p:cNvSpPr/>
          <p:nvPr/>
        </p:nvSpPr>
        <p:spPr>
          <a:xfrm>
            <a:off x="6858000" y="2011680"/>
            <a:ext cx="1280160" cy="2011680"/>
          </a:xfrm>
          <a:prstGeom prst="flowChartConnector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023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3A6B"/>
                </a:solidFill>
                <a:latin typeface="Malgun Gothic"/>
              </a:rPr>
              <a:t>Cylinder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2194560"/>
            <a:ext cx="1463040" cy="146304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703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3A6B"/>
                </a:solidFill>
                <a:latin typeface="Malgun Gothic"/>
              </a:rPr>
              <a:t>Sphere</a:t>
            </a:r>
          </a:p>
        </p:txBody>
      </p:sp>
      <p:sp>
        <p:nvSpPr>
          <p:cNvPr id="13" name="Hexagon 12"/>
          <p:cNvSpPr/>
          <p:nvPr/>
        </p:nvSpPr>
        <p:spPr>
          <a:xfrm>
            <a:off x="10149840" y="2194560"/>
            <a:ext cx="1371600" cy="155448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37947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3A6B"/>
                </a:solidFill>
                <a:latin typeface="Malgun Gothic"/>
              </a:rPr>
              <a:t>Prism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Malgun Gothic"/>
              </a:rPr>
              <a:t>▷ TTL·정책 우선순위는 L2 관제기가 주기적으로 브로드캐스트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05. APF 기반 분산 CD&amp;R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F(x,t) = F_attract(목표) + Σ F_repel(장애물/타기체)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파라미터: k_att, k_rep, d_safe, v_max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에이전트 간 브로드캐스트(300ms 주기) 위치·의도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각 L1 에이전트 독립 해결 → 중앙 단일장애점 제거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평균 해소지연 1.42s  |  100대 동시충돌 95.2%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3A6B"/>
                </a:solidFill>
                <a:latin typeface="Malgun Gothic"/>
              </a:rPr>
              <a:t>● 로컬미니마 탈출을 위한 perturbation + waypoint 재계산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280160"/>
            <a:ext cx="4572000" cy="4754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417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3A6B"/>
                </a:solidFill>
                <a:latin typeface="Malgun Gothic"/>
              </a:rPr>
              <a:t>▷ 힘의 합성 도식</a:t>
            </a:r>
          </a:p>
        </p:txBody>
      </p:sp>
      <p:sp>
        <p:nvSpPr>
          <p:cNvPr id="9" name="Oval 8"/>
          <p:cNvSpPr/>
          <p:nvPr/>
        </p:nvSpPr>
        <p:spPr>
          <a:xfrm>
            <a:off x="9098280" y="3291840"/>
            <a:ext cx="365760" cy="36576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281160" y="2011680"/>
            <a:ext cx="1965960" cy="1463040"/>
          </a:xfrm>
          <a:prstGeom prst="line">
            <a:avLst/>
          </a:prstGeom>
          <a:ln w="3810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1828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Malgun Gothic"/>
              </a:rPr>
              <a:t>F_attr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498079" y="2286000"/>
            <a:ext cx="1783081" cy="11887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0" y="20116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Malgun Gothic"/>
              </a:rPr>
              <a:t>F_rep1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72400" y="3474720"/>
            <a:ext cx="1508760" cy="16459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79" y="49377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Malgun Gothic"/>
              </a:rPr>
              <a:t>F_rep2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06. 풍속 적응 모드  &amp;  WebGPU 병렬가속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486400" cy="4846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▶ 풍속 적응 듀얼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DEFAULT  (≤10 m/s) : k_att=1.0, d_safe=4m, v_max=10m/s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WINDY    (&gt;10 m/s) : k_att=0.6, d_safe=6m, v_max=6m/s, 항력보상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히스테리시스 ±1 m/s → chattering 방지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검증: 15m/s 돌풍 해소율 95.4% (기존 81% 대비 +14pp)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4846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Malgun Gothic"/>
              </a:rPr>
              <a:t>▶ WebGPU Compute Shader 가속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O(N²) → O(log N) (uniform-grid + workgroup 병렬)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300대 기준 38.4× 속도향상 (CPU baseline 대비)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Chrome 113+ · Dawn 바인딩 · WASM 대체경로 포함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6B"/>
                </a:solidFill>
                <a:latin typeface="Malgun Gothic"/>
              </a:rPr>
              <a:t>● 메모리 효율: 32KB shared memory per workgroup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07. Monte-Carlo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F2FF"/>
                </a:solidFill>
                <a:latin typeface="Malgun Gothic"/>
              </a:rPr>
              <a:t>38,400 runs = 63 시나리오 × 128 seeds ×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충돌 해소율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97.8%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≥95%   |   +2.8pp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평균 해소 지연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1.42s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≤2.0s   |   -29%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지오펜스 위반율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0.11%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≤0.5%   |   -78%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Fail-safe 동작률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100%   |   ±0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0175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108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WebGPU 가속비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747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38.4×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114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≥10×   |   +284%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1752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108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B"/>
                </a:solidFill>
                <a:latin typeface="Malgun Gothic"/>
              </a:rPr>
              <a:t>100대 군집 동시충돌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4747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21B6"/>
                </a:solidFill>
                <a:latin typeface="Malgun Gothic"/>
              </a:rPr>
              <a:t>95.2%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14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algun Gothic"/>
              </a:rPr>
              <a:t>목표 ≥90%   |   +5.2pp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5803D"/>
                </a:solidFill>
                <a:latin typeface="Malgun Gothic"/>
              </a:rPr>
              <a:t>모든 KPI SLA 통과 (PASS)  |  상세 데이터: SDACS_MonteCarlo_Summary.xlsx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08. 선행기술 대비 차별성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645920" cy="7315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188720"/>
            <a:ext cx="2286000" cy="7315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371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Amazon Prime 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1828800" cy="7315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DJI AirSense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286000" cy="7315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NASA UTM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88720"/>
            <a:ext cx="3200400" cy="7315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SDACS (본 발명)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아키텍처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92024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2103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중앙집중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03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개별기(수동)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03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개념 프레임워크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920240"/>
            <a:ext cx="320040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B"/>
                </a:solidFill>
                <a:latin typeface="Malgun Gothic"/>
              </a:rPr>
              <a:t>L1 분산 + L2 조율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51760"/>
            <a:ext cx="164592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지오펜싱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651760"/>
            <a:ext cx="22860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정적 NFZ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651760"/>
            <a:ext cx="18288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8346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개념 정의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651760"/>
            <a:ext cx="320040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B"/>
                </a:solidFill>
                <a:latin typeface="Malgun Gothic"/>
              </a:rPr>
              <a:t>동적 3D + TTL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회피방식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38328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35661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중앙 경로계획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38328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5661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ADS-B 수신만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38328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5661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정책 레벨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383280"/>
            <a:ext cx="320040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5661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B"/>
                </a:solidFill>
                <a:latin typeface="Malgun Gothic"/>
              </a:rPr>
              <a:t>APF 분산 CD&amp;R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164592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기상적응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4114800"/>
            <a:ext cx="22860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제한적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4114800"/>
            <a:ext cx="18288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297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114800"/>
            <a:ext cx="2286000" cy="731520"/>
          </a:xfrm>
          <a:prstGeom prst="rect">
            <a:avLst/>
          </a:prstGeom>
          <a:solidFill>
            <a:srgbClr val="EEF2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개념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114800"/>
            <a:ext cx="320040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4297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B"/>
                </a:solidFill>
                <a:latin typeface="Malgun Gothic"/>
              </a:rPr>
              <a:t>듀얼모드 ±10 m/s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84632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0292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실시간 가속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484632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0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서버 CPU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484632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0" y="50292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온보드 CPU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4846320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명시 없음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4846320"/>
            <a:ext cx="320040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50292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B"/>
                </a:solidFill>
                <a:latin typeface="Malgun Gothic"/>
              </a:rPr>
              <a:t>WebGPU 38.4×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09. 출원 로드맵 &amp; 예산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194560" cy="4572000"/>
          </a:xfrm>
          <a:prstGeom prst="round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2026 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KR 국내출원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Malgun Gothic"/>
              </a:rPr>
              <a:t>₩4–6M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명세서·도면·청구범위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188720"/>
            <a:ext cx="2194560" cy="45720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37160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2027 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116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PCT 국제출원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432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Malgun Gothic"/>
              </a:rPr>
              <a:t>₩8–10M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8328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우선권 12개월 만료 직전 제출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188720"/>
            <a:ext cx="2194560" cy="457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37160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2028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116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국제조사보고서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432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Malgun Gothic"/>
              </a:rPr>
              <a:t>₩1–2M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38328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ISR/IPRP 수령·대응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188720"/>
            <a:ext cx="2194560" cy="45720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37160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2029 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0116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다국가 진입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Malgun Gothic"/>
              </a:rPr>
              <a:t>₩25–30M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38328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US·EP·JP·CN 국내단계 진입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188720"/>
            <a:ext cx="2194560" cy="45720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37160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2030+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0116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심사·등록·유지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7432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Malgun Gothic"/>
              </a:rPr>
              <a:t>₩10–15M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38328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OA 대응·등록료·연차료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3A6B"/>
                </a:solidFill>
                <a:latin typeface="Malgun Gothic"/>
              </a:rPr>
              <a:t>총 5년 누적: ₩48–62M  |  변리사 수임료·관납·번역·PCT·심사·유지료 포함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10. Action Items — 교수님 결정사항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21B6"/>
                </a:solidFill>
                <a:latin typeface="Malgun Gothic"/>
              </a:rPr>
              <a:t>SDACS v3.0  |  선우 sun475300@naver.com / 010-9058-3745  |  2026-04-21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① 발명자 구성 — 선우 단독 vs. 공동출원 (지분비율 확정)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② 출원 주체 — 개인 vs. 학교 TLO/산학협력단 경유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③ 포트폴리오 범위 — 단일특허 vs. 특허군(3–5건 분할)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④ 논문 동시출원 전략 — KCI 선공개 허용 여부, SCI 타이밍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⑤ 방어·공격 전략 — 정면특허 중심 vs. 주변특허 포위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⑥ 예산 승인 — ₩48–62M 5개년 지출계획 동의 여부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⑦ 변리사 선정 — 추천 사무소 3곳 중 택1 (추후 송부)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A6B"/>
                </a:solidFill>
                <a:latin typeface="Malgun Gothic"/>
              </a:rPr>
              <a:t>● ⑧ 타임라인 — 5월 변리사 킥오프 가능 여부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698480" cy="50292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25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▶ 상기 8개 사항 중 ①②③은 우선 결정 필요 (다음 미팅까지)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