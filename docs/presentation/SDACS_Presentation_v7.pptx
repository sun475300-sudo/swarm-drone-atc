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12188952" cy="9144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600" b="0">
                <a:solidFill>
                  <a:srgbClr val="9FC6E8"/>
                </a:solidFill>
                <a:latin typeface="맑은 고딕"/>
                <a:ea typeface="맑은 고딕"/>
              </a:rPr>
              <a:t>캡스톤디자인 최종 발표 /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맑은 고딕"/>
                <a:ea typeface="맑은 고딕"/>
              </a:rPr>
              <a:t>SDACS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군집드론 공역통제 자동화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2000" b="0">
                <a:solidFill>
                  <a:srgbClr val="B8D4EC"/>
                </a:solidFill>
                <a:latin typeface="맑은 고딕"/>
                <a:ea typeface="맑은 고딕"/>
              </a:rPr>
              <a:t>Swarm Drone Airspace Control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11887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발표자  |  장선우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  <a:ea typeface="맑은 고딕"/>
              </a:rPr>
              <a:t>지도교수  |  캡스톤디자인 프로젝트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  <a:ea typeface="맑은 고딕"/>
              </a:rPr>
              <a:t>발표일  |  2026년 04월 10일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1. 문제 정의 — 하늘길이 막히고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58368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드론 시장 폭발적 성장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2030년 국내 드론 시장 4.5조 원 예상, 기체 수 100만 대 돌파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배송·촬영·측량·방제 등 사용처 급증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도심 저고도(150 m 이하) 공역이 급속히 혼잡해짐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공역 용량 한계 도달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서울·광주 등 주요 도심 공역은 이미 포화 직전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충돌·추락 사고 리스크 증가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현재 제도로는 100대 이상 동시 비행 안전 보장 불가</a:t>
            </a:r>
          </a:p>
        </p:txBody>
      </p:sp>
      <p:pic>
        <p:nvPicPr>
          <p:cNvPr id="7" name="Picture 6" descr="78cb17427a601bb078076de230d1279ef505df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13660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2. 기존 방식의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58368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수동 관제에 의존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관제사 1명이 드론 수십 대를 실시간 감시 — 휴먼 에러 불가피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단일 드론 중심 제어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드론 한 대씩 명령 전달 — 군집 단위 조율 불가능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지상 레이더 한계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도심 빌딩이 저고도 공역 67%를 감시 사각지대로 만듦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규정·소프트웨어 미비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100대 이상 동시 비행을 관제할 표준 체계가 없음</a:t>
            </a:r>
          </a:p>
        </p:txBody>
      </p:sp>
      <p:pic>
        <p:nvPicPr>
          <p:cNvPr id="7" name="Picture 6" descr="e0271e0a50ac6bc78f0398f2c240f4e573bbe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18232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3. SDACS 해결책 — 4계층 자동화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58368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공역통제의 완전 자동화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사람이 아닌 시스템이 충돌·진입·퇴각을 실시간 판단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4계층 역할 분담 구조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드론 → 공역 제어기 → 시뮬레이터 → UI 대시보드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게임 AI 연구를 현실로 이식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StarCraft II 군집 제어 알고리즘을 실제 드론 관제에 적용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검증된 오픈소스 기반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SimPy · Dash · WebGPU — 재현 가능 + 확장 가능</a:t>
            </a:r>
          </a:p>
        </p:txBody>
      </p:sp>
      <p:pic>
        <p:nvPicPr>
          <p:cNvPr id="7" name="Picture 6" descr="80746b62fb86c64a171c54eec1e860c582be58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226753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4. Layer 1 — 드론 에이전트 (10 Hz)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58368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SimPy 기반 이산 이벤트 시뮬레이션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각 드론이 독립적인 Python 프로세스로 동작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10 Hz 업데이트 루프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100 ms마다 위치·속도·배터리·풍속 영향 갱신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자율 충돌 회피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APF 기반 개별 드론 회피 반응 (100 ms 응답)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센서 모델링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GPS 노이즈 · 배터리 드레인 · 풍속 외란까지 포함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확장성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50 → 500대까지 선형 확장 검증 완료</a:t>
            </a:r>
          </a:p>
        </p:txBody>
      </p:sp>
      <p:pic>
        <p:nvPicPr>
          <p:cNvPr id="7" name="Picture 6" descr="df06668eb85513a5ac7486fabc179561c38c8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2240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5. Layer 2 — 공역 제어기 (1 Hz, APF)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58368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AirspaceController 1 Hz 주기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매초 전체 군집의 잠재적 충돌 분석 + 경로 권고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Artificial Potential Field 기반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목표지점은 인력(attract), 장애물·타 드론은 척력(repel)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5겹 안전망 적용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권고 → 속도 조절 → 호버링 → 회피기동 → 강제 착륙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우선순위 자동 조정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배터리 잔량·임무 중요도·위험도에 따라 5단계 동적 변환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실시간 충돌 해결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평균 해결률 97.8% (63개 시나리오 평균)</a:t>
            </a:r>
          </a:p>
        </p:txBody>
      </p:sp>
      <p:pic>
        <p:nvPicPr>
          <p:cNvPr id="7" name="Picture 6" descr="cfa38868f013731afcd63c1435b362661dee6a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189055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6. Layer 3 — 시뮬레이터 &amp; Monte Carlo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58368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SwarmSimulator 단일 엔진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SimPy 이벤트 루프 + 풍속 모델 + 충돌 감지 통합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WindModel 환경 외란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Perlin 노이즈 + 가우시안 외란으로 실측 풍장 근사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Monte Carlo 파라미터 스윕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38,400 runs — 드론 수·풍속·밀도 전 조합 검증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재현성 보장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np.random.default_rng(seed) 기반, 동일 입력 → 동일 결과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통계적 성능 지표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충돌률·해결률·응답 지연·처리량을 자동 집계</a:t>
            </a:r>
          </a:p>
        </p:txBody>
      </p:sp>
      <p:pic>
        <p:nvPicPr>
          <p:cNvPr id="7" name="Picture 6" descr="4894b105349392aeef769d0f24ad5b2d49e725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195390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7. APF (Artificial Potential Field) 알고리즘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8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58368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전체 공역을 힘의 장(field)으로 모델링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목표지점 = 끌어당기는 자석, 장애물 = 밀어내는 자석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드론은 힘의 합력 방향으로 이동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각 프레임마다 그래디언트 계산 → 속도 벡터 갱신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실시간 계산 가능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벡터 연산 기반 — 500대까지 1초 내 완료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국소 최소점 탈출 로직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목표 도달 실패 시 임의 섭동(perturbation) 주입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기존 경로계획 대비 장점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재계산 비용이 낮아 동적 환경에 강함</a:t>
            </a:r>
          </a:p>
        </p:txBody>
      </p:sp>
      <p:pic>
        <p:nvPicPr>
          <p:cNvPr id="7" name="Picture 6" descr="ce7ff024213fe4ac9b79445fa88b3974a8322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184414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8. 강풍 모드 자동 전환 (풍속 &gt; 10 m/s)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58368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기상 적응형 파라미터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WindModel 측정값이 10 m/s 초과 시 자동으로 강풍 모드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APF_PARAMS_WINDY 프리셋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척력 계수 1.8배 · 회피 반경 1.5배 · 속도 상한 0.7배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안전 vs 처리량 균형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강풍 중에도 해결률 95% 이상 유지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수동 개입 불필요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운영자 조작 없이 실시간 자동 전환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광주광역시 실측 풍장 검증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평균 돌풍 12 m/s 환경에서 충돌 0건 달성</a:t>
            </a:r>
          </a:p>
        </p:txBody>
      </p:sp>
      <p:pic>
        <p:nvPicPr>
          <p:cNvPr id="7" name="Picture 6" descr="f65473721ace1a8dabd5f3081c045a4e62b3dc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17062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9. WebGPU Compute Shader 가속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58368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CPU 병목을 GPU로 오프로드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APF 그래디언트 계산을 WebGPU 셰이더에서 병렬 수행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병렬 처리 효과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500대 동시 계산 — CPU 대비 약 12배 처리량 향상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브라우저 기반 3D 시각화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Chrome · Edge · Firefox에서 별도 설치 없이 구동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실시간 대시보드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60 FPS 이상 — 관제사 화면에서 부드러운 군집 시각화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확장성 확보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GPU 연산 자원이 남는 한 드론 수 수천 대까지 대응 가능</a:t>
            </a:r>
          </a:p>
        </p:txBody>
      </p:sp>
      <p:pic>
        <p:nvPicPr>
          <p:cNvPr id="7" name="Picture 6" descr="152b2021b23eb93a4da13a6a82826edb8f0e7e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270583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10. 7대 광역시 실증 시나리오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58368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서울·부산·대구·인천·광주·대전·울산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7개 대도시 지형/풍장/빌딩 데이터를 시뮬레이션에 반영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카테고리 63종 시나리오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고밀도·강풍·불법 진입·긴급 복귀 등 실제 발생 가능 상황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도시별 평균 성공률 96.9%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최저 서울 95.4% — 최고 대전 98.7%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광주광역시 집중 검증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무진대로 2 km 회랑 20대 군집 1시간 연속 비행 — 충돌 0건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실증 준비 완료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시뮬레이션 → 실제 비행 테스트로 이관 가능한 단계</a:t>
            </a:r>
          </a:p>
        </p:txBody>
      </p:sp>
      <p:pic>
        <p:nvPicPr>
          <p:cNvPr id="7" name="Picture 6" descr="dcd74a92f4ea60cab7a9d3640ebfa33963603e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226753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11. 핵심 성과 — 충돌 해결률 97.8%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12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840480" cy="13716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37160" cy="1371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3474720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005AA0"/>
                </a:solidFill>
                <a:latin typeface="맑은 고딕"/>
                <a:ea typeface="맑은 고딕"/>
              </a:rPr>
              <a:t>97.8 %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  <a:ea typeface="맑은 고딕"/>
              </a:rPr>
              <a:t>충돌 해결률 (63 시나리오 평균)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60"/>
            <a:ext cx="3840480" cy="13716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137160" cy="1371600"/>
          </a:xfrm>
          <a:prstGeom prst="rect">
            <a:avLst/>
          </a:prstGeom>
          <a:solidFill>
            <a:srgbClr val="0A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3474720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0A2B4F"/>
                </a:solidFill>
                <a:latin typeface="맑은 고딕"/>
                <a:ea typeface="맑은 고딕"/>
              </a:rPr>
              <a:t>38,400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  <a:ea typeface="맑은 고딕"/>
              </a:rPr>
              <a:t>Monte Carlo 실험 횟수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63440"/>
            <a:ext cx="3840480" cy="13716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663440"/>
            <a:ext cx="137160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3474720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C0392B"/>
                </a:solidFill>
                <a:latin typeface="맑은 고딕"/>
                <a:ea typeface="맑은 고딕"/>
              </a:rPr>
              <a:t>0 건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  <a:ea typeface="맑은 고딕"/>
              </a:rPr>
              <a:t>광주 2 km 회랑 1시간 충돌 건수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554480"/>
            <a:ext cx="685800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700" b="1">
                <a:solidFill>
                  <a:srgbClr val="0A2B4F"/>
                </a:solidFill>
                <a:latin typeface="맑은 고딕"/>
                <a:ea typeface="맑은 고딕"/>
              </a:rPr>
              <a:t>해결률 산식</a:t>
            </a:r>
            <a:r>
              <a:rPr sz="1500" b="0">
                <a:solidFill>
                  <a:srgbClr val="333333"/>
                </a:solidFill>
                <a:latin typeface="맑은 고딕"/>
                <a:ea typeface="맑은 고딕"/>
              </a:rPr>
              <a:t>  1 - collisions / (conflicts + collisions)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700" b="1">
                <a:solidFill>
                  <a:srgbClr val="0A2B4F"/>
                </a:solidFill>
                <a:latin typeface="맑은 고딕"/>
                <a:ea typeface="맑은 고딕"/>
              </a:rPr>
              <a:t>500대 대규모 군집까지 검증</a:t>
            </a:r>
            <a:r>
              <a:rPr sz="1500" b="0">
                <a:solidFill>
                  <a:srgbClr val="333333"/>
                </a:solidFill>
                <a:latin typeface="맑은 고딕"/>
                <a:ea typeface="맑은 고딕"/>
              </a:rPr>
              <a:t>  성공률 선형 유지 — 드론 수에 덜 민감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700" b="1">
                <a:solidFill>
                  <a:srgbClr val="0A2B4F"/>
                </a:solidFill>
                <a:latin typeface="맑은 고딕"/>
                <a:ea typeface="맑은 고딕"/>
              </a:rPr>
              <a:t>통계적 유의성 확보</a:t>
            </a:r>
            <a:r>
              <a:rPr sz="1500" b="0">
                <a:solidFill>
                  <a:srgbClr val="333333"/>
                </a:solidFill>
                <a:latin typeface="맑은 고딕"/>
                <a:ea typeface="맑은 고딕"/>
              </a:rPr>
              <a:t>  38,400 runs → 95% 신뢰구간 ± 0.4%p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700" b="1">
                <a:solidFill>
                  <a:srgbClr val="0A2B4F"/>
                </a:solidFill>
                <a:latin typeface="맑은 고딕"/>
                <a:ea typeface="맑은 고딕"/>
              </a:rPr>
              <a:t>재현 가능성</a:t>
            </a:r>
            <a:r>
              <a:rPr sz="1500" b="0">
                <a:solidFill>
                  <a:srgbClr val="333333"/>
                </a:solidFill>
                <a:latin typeface="맑은 고딕"/>
                <a:ea typeface="맑은 고딕"/>
              </a:rPr>
              <a:t>  seed 고정 → 누구나 동일 결과 재현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12. 응답 시간 ~ 1.2 초 · 처리량 1.05배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13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840480" cy="13716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37160" cy="1371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3474720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005AA0"/>
                </a:solidFill>
                <a:latin typeface="맑은 고딕"/>
                <a:ea typeface="맑은 고딕"/>
              </a:rPr>
              <a:t>1.2 초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  <a:ea typeface="맑은 고딕"/>
              </a:rPr>
              <a:t>탐지 → 권고 평균 응답 시간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60"/>
            <a:ext cx="3840480" cy="13716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137160" cy="1371600"/>
          </a:xfrm>
          <a:prstGeom prst="rect">
            <a:avLst/>
          </a:prstGeom>
          <a:solidFill>
            <a:srgbClr val="0A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3474720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0A2B4F"/>
                </a:solidFill>
                <a:latin typeface="맑은 고딕"/>
                <a:ea typeface="맑은 고딕"/>
              </a:rPr>
              <a:t>1.05 ×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  <a:ea typeface="맑은 고딕"/>
              </a:rPr>
              <a:t>동일 공역 대비 처리량 증가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63440"/>
            <a:ext cx="3840480" cy="1371600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663440"/>
            <a:ext cx="137160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3474720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C0392B"/>
                </a:solidFill>
                <a:latin typeface="맑은 고딕"/>
                <a:ea typeface="맑은 고딕"/>
              </a:rPr>
              <a:t>&lt; 100 ms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맑은 고딕"/>
                <a:ea typeface="맑은 고딕"/>
              </a:rPr>
              <a:t>드론 개별 APF 반응 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554480"/>
            <a:ext cx="685800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700" b="1">
                <a:solidFill>
                  <a:srgbClr val="0A2B4F"/>
                </a:solidFill>
                <a:latin typeface="맑은 고딕"/>
                <a:ea typeface="맑은 고딕"/>
              </a:rPr>
              <a:t>5단계 자동 파이프라인</a:t>
            </a:r>
            <a:r>
              <a:rPr sz="1500" b="0">
                <a:solidFill>
                  <a:srgbClr val="333333"/>
                </a:solidFill>
                <a:latin typeface="맑은 고딕"/>
                <a:ea typeface="맑은 고딕"/>
              </a:rPr>
              <a:t>  탐지 → 식별 → 판단 → 권고 → 실행 (전체 &lt; 1.5초)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700" b="1">
                <a:solidFill>
                  <a:srgbClr val="0A2B4F"/>
                </a:solidFill>
                <a:latin typeface="맑은 고딕"/>
                <a:ea typeface="맑은 고딕"/>
              </a:rPr>
              <a:t>동일 공역 처리량 증가</a:t>
            </a:r>
            <a:r>
              <a:rPr sz="1500" b="0">
                <a:solidFill>
                  <a:srgbClr val="333333"/>
                </a:solidFill>
                <a:latin typeface="맑은 고딕"/>
                <a:ea typeface="맑은 고딕"/>
              </a:rPr>
              <a:t>  관제 자동화로 동일 영역 내 +5% 비행 밀도 허용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700" b="1">
                <a:solidFill>
                  <a:srgbClr val="0A2B4F"/>
                </a:solidFill>
                <a:latin typeface="맑은 고딕"/>
                <a:ea typeface="맑은 고딕"/>
              </a:rPr>
              <a:t>관제사 업무량 감소</a:t>
            </a:r>
            <a:r>
              <a:rPr sz="1500" b="0">
                <a:solidFill>
                  <a:srgbClr val="333333"/>
                </a:solidFill>
                <a:latin typeface="맑은 고딕"/>
                <a:ea typeface="맑은 고딕"/>
              </a:rPr>
              <a:t>  권고는 자동 생성 → 사람은 예외 상황만 처리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700" b="1">
                <a:solidFill>
                  <a:srgbClr val="0A2B4F"/>
                </a:solidFill>
                <a:latin typeface="맑은 고딕"/>
                <a:ea typeface="맑은 고딕"/>
              </a:rPr>
              <a:t>스케줄 신뢰도 향상</a:t>
            </a:r>
            <a:r>
              <a:rPr sz="1500" b="0">
                <a:solidFill>
                  <a:srgbClr val="333333"/>
                </a:solidFill>
                <a:latin typeface="맑은 고딕"/>
                <a:ea typeface="맑은 고딕"/>
              </a:rPr>
              <a:t>  응답 지연 표준편차 0.3초 — 예측 가능한 관제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13. 3D 시뮬레이션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14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400800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Dash + WebGPU 3D 대시보드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브라우저에서 실시간 군집 비행 확인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관제사용 인터페이스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드론 ID · 속도 · 배터리 · 경로 · 경보를 한 화면에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카메라 조작·시간 슬라이더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과거 사건 되감기·시점 전환으로 원인 분석 가능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3D 도시 모델 연동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서울·광주 등 실제 빌딩 데이터 로드</a:t>
            </a:r>
          </a:p>
        </p:txBody>
      </p:sp>
      <p:pic>
        <p:nvPicPr>
          <p:cNvPr id="7" name="Picture 6" descr="ca3c9b5e10bd3cd0f142ee2967693bf940d40e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54480"/>
            <a:ext cx="4572000" cy="23396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8173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2B4F"/>
                </a:solidFill>
                <a:latin typeface="맑은 고딕"/>
                <a:ea typeface="맑은 고딕"/>
              </a:rPr>
              <a:t>14. 향후 계획 — 특허 · 실증 ·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36576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1672" y="365760"/>
            <a:ext cx="8229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1">
                <a:solidFill>
                  <a:srgbClr val="005AA0"/>
                </a:solidFill>
                <a:latin typeface="맑은 고딕"/>
                <a:ea typeface="맑은 고딕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58368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특허 출원 5건 준비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APF 강풍 자동 전환 / 5겹 안전망 / WebGPU 관제 UI 등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광주광역시 실증 실험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2 km 회랑 20대 실기체 시범 비행 — 안전 인증 절차 병행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규정·표준화 연계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국토부·항공안전기술원과 공역통제 자동화 가이드라인 논의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산업 확장 로드맵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배송·방제·재난구조·공공안전 등 다영역 적용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800" b="1">
                <a:solidFill>
                  <a:srgbClr val="0A2B4F"/>
                </a:solidFill>
                <a:latin typeface="맑은 고딕"/>
                <a:ea typeface="맑은 고딕"/>
              </a:rPr>
              <a:t>오픈소스 공개</a:t>
            </a: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  GitHub 공개 – 후속 연구진·스타트업과 협력</a:t>
            </a:r>
          </a:p>
        </p:txBody>
      </p:sp>
      <p:pic>
        <p:nvPicPr>
          <p:cNvPr id="7" name="Picture 6" descr="d0b4bce5521f952cd294984b8aa919b2eaaea0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20307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46520"/>
            <a:ext cx="11274552" cy="18288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  <a:ea typeface="맑은 고딕"/>
              </a:rPr>
              <a:t>SDACS — 군집드론 공역통제 자동화 시스템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00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감사합니다</a:t>
            </a:r>
          </a:p>
          <a:p>
            <a:pPr algn="l"/>
            <a:r>
              <a:rPr sz="2200" b="0">
                <a:solidFill>
                  <a:srgbClr val="9FC6E8"/>
                </a:solidFill>
                <a:latin typeface="맑은 고딕"/>
                <a:ea typeface="맑은 고딕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FC6E8"/>
                </a:solidFill>
                <a:latin typeface="맑은 고딕"/>
                <a:ea typeface="맑은 고딕"/>
              </a:rPr>
              <a:t>SDACS Project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A2B4F"/>
                </a:solidFill>
                <a:latin typeface="맑은 고딕"/>
                <a:ea typeface="맑은 고딕"/>
              </a:rPr>
              <a:t>15. 결론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6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600" b="1">
                <a:solidFill>
                  <a:srgbClr val="0A2B4F"/>
                </a:solidFill>
                <a:latin typeface="맑은 고딕"/>
                <a:ea typeface="맑은 고딕"/>
              </a:rPr>
              <a:t>자동화된 공역통제는 실현 가능</a:t>
            </a:r>
            <a:r>
              <a:rPr sz="1400" b="0">
                <a:solidFill>
                  <a:srgbClr val="333333"/>
                </a:solidFill>
                <a:latin typeface="맑은 고딕"/>
                <a:ea typeface="맑은 고딕"/>
              </a:rPr>
              <a:t>  시뮬레이션·검증·시각화까지 end-to-end 구축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6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600" b="1">
                <a:solidFill>
                  <a:srgbClr val="0A2B4F"/>
                </a:solidFill>
                <a:latin typeface="맑은 고딕"/>
                <a:ea typeface="맑은 고딕"/>
              </a:rPr>
              <a:t>안전성 입증</a:t>
            </a:r>
            <a:r>
              <a:rPr sz="1400" b="0">
                <a:solidFill>
                  <a:srgbClr val="333333"/>
                </a:solidFill>
                <a:latin typeface="맑은 고딕"/>
                <a:ea typeface="맑은 고딕"/>
              </a:rPr>
              <a:t>  충돌 해결률 97.8% · 500대 군집 · 강풍까지 견딤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6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600" b="1">
                <a:solidFill>
                  <a:srgbClr val="0A2B4F"/>
                </a:solidFill>
                <a:latin typeface="맑은 고딕"/>
                <a:ea typeface="맑은 고딕"/>
              </a:rPr>
              <a:t>확장 가능한 구조</a:t>
            </a:r>
            <a:r>
              <a:rPr sz="1400" b="0">
                <a:solidFill>
                  <a:srgbClr val="333333"/>
                </a:solidFill>
                <a:latin typeface="맑은 고딕"/>
                <a:ea typeface="맑은 고딕"/>
              </a:rPr>
              <a:t>  SimPy + WebGPU 기반 오픈소스 아키텍처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600" b="1">
                <a:solidFill>
                  <a:srgbClr val="005AA0"/>
                </a:solidFill>
                <a:latin typeface="맑은 고딕"/>
                <a:ea typeface="맑은 고딕"/>
              </a:rPr>
              <a:t>•  </a:t>
            </a:r>
            <a:r>
              <a:rPr sz="1600" b="1">
                <a:solidFill>
                  <a:srgbClr val="0A2B4F"/>
                </a:solidFill>
                <a:latin typeface="맑은 고딕"/>
                <a:ea typeface="맑은 고딕"/>
              </a:rPr>
              <a:t>학계·산업·규제 연결 기술</a:t>
            </a:r>
            <a:r>
              <a:rPr sz="1400" b="0">
                <a:solidFill>
                  <a:srgbClr val="333333"/>
                </a:solidFill>
                <a:latin typeface="맑은 고딕"/>
                <a:ea typeface="맑은 고딕"/>
              </a:rPr>
              <a:t>  특허 · 실증 · 표준화 3축 동시 추진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