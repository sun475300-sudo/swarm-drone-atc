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748c8576ea4218" /><Relationship Type="http://schemas.openxmlformats.org/officeDocument/2006/relationships/extended-properties" Target="/docProps/app.xml" Id="Rc9d45245345b42ae" /><Relationship Type="http://schemas.openxmlformats.org/officeDocument/2006/relationships/officeDocument" Target="/ppt/presentation.xml" Id="Rfdb22d9c565a49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04b88c6dc142e6"/>
  </p:sldMasterIdLst>
  <p:notesMasterIdLst>
    <p:notesMasterId xmlns:r="http://schemas.openxmlformats.org/officeDocument/2006/relationships" r:id="Rbba13aeaabda48f2"/>
  </p:notesMasterIdLst>
  <p:sldIdLst>
    <p:sldId xmlns:r="http://schemas.openxmlformats.org/officeDocument/2006/relationships" id="256" r:id="R7b65faf6064741cf"/>
    <p:sldId xmlns:r="http://schemas.openxmlformats.org/officeDocument/2006/relationships" id="257" r:id="R1c7476f104eb4527"/>
    <p:sldId xmlns:r="http://schemas.openxmlformats.org/officeDocument/2006/relationships" id="258" r:id="R76b3c86b0e864277"/>
    <p:sldId xmlns:r="http://schemas.openxmlformats.org/officeDocument/2006/relationships" id="259" r:id="Re2c4b8a13de2412a"/>
    <p:sldId xmlns:r="http://schemas.openxmlformats.org/officeDocument/2006/relationships" id="260" r:id="R589d2d19af3445f6"/>
    <p:sldId xmlns:r="http://schemas.openxmlformats.org/officeDocument/2006/relationships" id="261" r:id="Raf01c6c731504865"/>
    <p:sldId xmlns:r="http://schemas.openxmlformats.org/officeDocument/2006/relationships" id="262" r:id="Rc465cc5691444389"/>
    <p:sldId xmlns:r="http://schemas.openxmlformats.org/officeDocument/2006/relationships" id="263" r:id="R16c871731c3b499d"/>
    <p:sldId xmlns:r="http://schemas.openxmlformats.org/officeDocument/2006/relationships" id="264" r:id="R6e9082cdf8374e6e"/>
    <p:sldId xmlns:r="http://schemas.openxmlformats.org/officeDocument/2006/relationships" id="265" r:id="R73dcebf7ec284c4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be94ac70ae4ffd" /><Relationship Type="http://schemas.openxmlformats.org/officeDocument/2006/relationships/slideMaster" Target="/ppt/slideMasters/slideMaster1.xml" Id="R4504b88c6dc142e6" /><Relationship Type="http://schemas.openxmlformats.org/officeDocument/2006/relationships/notesMaster" Target="/ppt/notesMasters/notesMaster1.xml" Id="Rbba13aeaabda48f2" /><Relationship Type="http://schemas.openxmlformats.org/officeDocument/2006/relationships/presProps" Target="/ppt/presProps.xml" Id="R284924e9e1c64218" /><Relationship Type="http://schemas.openxmlformats.org/officeDocument/2006/relationships/viewProps" Target="/ppt/viewProps.xml" Id="R45545a52e96e41ac" /><Relationship Type="http://schemas.openxmlformats.org/officeDocument/2006/relationships/tableStyles" Target="/ppt/tableStyles.xml" Id="Ra985fe94512a44a4" /><Relationship Type="http://schemas.openxmlformats.org/officeDocument/2006/relationships/slide" Target="/ppt/slides/slide1.xml" Id="R7b65faf6064741cf" /><Relationship Type="http://schemas.openxmlformats.org/officeDocument/2006/relationships/slide" Target="/ppt/slides/slide2.xml" Id="R1c7476f104eb4527" /><Relationship Type="http://schemas.openxmlformats.org/officeDocument/2006/relationships/slide" Target="/ppt/slides/slide3.xml" Id="R76b3c86b0e864277" /><Relationship Type="http://schemas.openxmlformats.org/officeDocument/2006/relationships/slide" Target="/ppt/slides/slide4.xml" Id="Re2c4b8a13de2412a" /><Relationship Type="http://schemas.openxmlformats.org/officeDocument/2006/relationships/slide" Target="/ppt/slides/slide5.xml" Id="R589d2d19af3445f6" /><Relationship Type="http://schemas.openxmlformats.org/officeDocument/2006/relationships/slide" Target="/ppt/slides/slide6.xml" Id="Raf01c6c731504865" /><Relationship Type="http://schemas.openxmlformats.org/officeDocument/2006/relationships/slide" Target="/ppt/slides/slide7.xml" Id="Rc465cc5691444389" /><Relationship Type="http://schemas.openxmlformats.org/officeDocument/2006/relationships/slide" Target="/ppt/slides/slide8.xml" Id="R16c871731c3b499d" /><Relationship Type="http://schemas.openxmlformats.org/officeDocument/2006/relationships/slide" Target="/ppt/slides/slide9.xml" Id="R6e9082cdf8374e6e" /><Relationship Type="http://schemas.openxmlformats.org/officeDocument/2006/relationships/slide" Target="/ppt/slides/slide10.xml" Id="R73dcebf7ec284c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544ce75fa4d4e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8a5981711c46e1" /><Relationship Type="http://schemas.openxmlformats.org/officeDocument/2006/relationships/notesMaster" Target="/ppt/notesMasters/notesMaster1.xml" Id="Raae29d0ad5b14a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2e7e55aa7f4097" /><Relationship Type="http://schemas.openxmlformats.org/officeDocument/2006/relationships/notesMaster" Target="/ppt/notesMasters/notesMaster1.xml" Id="R379bec3f464f41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d1c79c4abd49c4" /><Relationship Type="http://schemas.openxmlformats.org/officeDocument/2006/relationships/notesMaster" Target="/ppt/notesMasters/notesMaster1.xml" Id="R3b26985298804f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f74b012360416c" /><Relationship Type="http://schemas.openxmlformats.org/officeDocument/2006/relationships/notesMaster" Target="/ppt/notesMasters/notesMaster1.xml" Id="Rd08a1918ceac4b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71b5a90a374d81" /><Relationship Type="http://schemas.openxmlformats.org/officeDocument/2006/relationships/notesMaster" Target="/ppt/notesMasters/notesMaster1.xml" Id="Re0a2f423accf45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6152724dfd74580" /><Relationship Type="http://schemas.openxmlformats.org/officeDocument/2006/relationships/notesMaster" Target="/ppt/notesMasters/notesMaster1.xml" Id="Rdb59bcfbaffd46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2d3422690b54faf" /><Relationship Type="http://schemas.openxmlformats.org/officeDocument/2006/relationships/notesMaster" Target="/ppt/notesMasters/notesMaster1.xml" Id="Re7d9d566dc3b477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8b1f61e820541bc" /><Relationship Type="http://schemas.openxmlformats.org/officeDocument/2006/relationships/notesMaster" Target="/ppt/notesMasters/notesMaster1.xml" Id="R9c840395e1744d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cf5670a62547f6" /><Relationship Type="http://schemas.openxmlformats.org/officeDocument/2006/relationships/notesMaster" Target="/ppt/notesMasters/notesMaster1.xml" Id="Re9d05ab034ad4c8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659be6c72b4a67" /><Relationship Type="http://schemas.openxmlformats.org/officeDocument/2006/relationships/notesMaster" Target="/ppt/notesMasters/notesMaster1.xml" Id="Re6d53f7bf9a84b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d3acfc1a0041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001776c2124287" /><Relationship Type="http://schemas.openxmlformats.org/officeDocument/2006/relationships/slideLayout" Target="/ppt/slideLayouts/slideLayout1.xml" Id="R48485b75145b42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485b75145b42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afa10228f4c9f" /><Relationship Type="http://schemas.openxmlformats.org/officeDocument/2006/relationships/notesSlide" Target="/ppt/notesSlides/notesSlide1.xml" Id="R5956fd6bb18041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44608db8734c77" /><Relationship Type="http://schemas.openxmlformats.org/officeDocument/2006/relationships/notesSlide" Target="/ppt/notesSlides/notesSlide2.xml" Id="Recef7410b928424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b78e55f7a54e66" /><Relationship Type="http://schemas.openxmlformats.org/officeDocument/2006/relationships/notesSlide" Target="/ppt/notesSlides/notesSlide3.xml" Id="R6fc36dbd201e46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a2b4ab0b54d90" /><Relationship Type="http://schemas.openxmlformats.org/officeDocument/2006/relationships/notesSlide" Target="/ppt/notesSlides/notesSlide4.xml" Id="Rc58352ecf1bc4bd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2e6ff596e94a3f" /><Relationship Type="http://schemas.openxmlformats.org/officeDocument/2006/relationships/notesSlide" Target="/ppt/notesSlides/notesSlide5.xml" Id="Rb255e3e7ae0741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3f10f4995740eb" /><Relationship Type="http://schemas.openxmlformats.org/officeDocument/2006/relationships/notesSlide" Target="/ppt/notesSlides/notesSlide6.xml" Id="R03000a82d62b49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a98bab8eed4bf0" /><Relationship Type="http://schemas.openxmlformats.org/officeDocument/2006/relationships/notesSlide" Target="/ppt/notesSlides/notesSlide7.xml" Id="R36f807edf56548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0eb9fb62de4cd7" /><Relationship Type="http://schemas.openxmlformats.org/officeDocument/2006/relationships/notesSlide" Target="/ppt/notesSlides/notesSlide8.xml" Id="Rbffe0c3f7f70499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781edf1eea4e40" /><Relationship Type="http://schemas.openxmlformats.org/officeDocument/2006/relationships/notesSlide" Target="/ppt/notesSlides/notesSlide9.xml" Id="R37faff3d20794b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bff481ad04eb3" /><Relationship Type="http://schemas.openxmlformats.org/officeDocument/2006/relationships/notesSlide" Target="/ppt/notesSlides/notesSlide10.xml" Id="R5f25e1d48994452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B50ED4-4A9A-422A-A197-EA7F0EF5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272F0F-CC30-4BD3-AAFE-2CD421CB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571500"/>
            <a:ext cx="49530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C0593D-E67F-4303-A9B8-EF4E5E3C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-285750"/>
            <a:ext cx="4191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BAA47C-1D12-4178-9679-999376B2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5364FE-D6D6-4115-B488-58E6FD3C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A7107B-C88E-4F5B-8A87-6999170E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76200" cy="440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ED4DC-4FD5-4833-87AC-3E50F010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81050"/>
            <a:ext cx="495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SDACS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20CF27-993C-4348-8226-35A837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43050"/>
            <a:ext cx="609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Swarm Drone Airspace Control System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D3DCDB-07AE-4BFF-8455-33674A746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71675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군집 드론 공역 관제 시뮬레이터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E2CE66-5CB8-4E6C-AE8C-5C98D52D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581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여러 대의 드론이 같은 하늘을 쓸 때, 누가 먼저 가고 누가 비켜야 하는가?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02C433-4198-4351-91F1-CC5CF101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76650"/>
            <a:ext cx="4953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C09F45-6F17-4714-8E1F-82A22E58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46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08A0E9-43C7-4530-BDF4-88E74D6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6242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Public deck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7B0308-1CC5-4C9E-9A98-96B10DD5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95750"/>
            <a:ext cx="1485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46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91DFA6-2D5A-4E49-B2E3-9EE37EFB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62425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Updated 2026-06-13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926C22-172F-46A9-916F-10203DC4B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095750"/>
            <a:ext cx="1562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46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1E7C48-80B0-4BA9-868C-34971B0B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162425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Simulation verified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E5482A-9EF2-4D61-BE57-F5D859D9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144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0BA512-EE5A-42DC-8EE2-386C4824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144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39073E-0E59-4FC9-AF3B-5F2FED67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066800"/>
            <a:ext cx="1752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0 collisions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067314-8F2A-4FFC-8269-9DE6C0C4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428750"/>
            <a:ext cx="1752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100-drone run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007983-DAFD-4AE3-9F37-BD1EE843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657350"/>
            <a:ext cx="1752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60 s / seed 42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ABCEDF-6EA9-4089-9267-65B7AE36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9144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F09F19-B4C9-469A-9C4F-DFF82C5A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9144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3A7E57-FF94-47F4-AAFB-F04045BB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066800"/>
            <a:ext cx="1752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4,291 pass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56FE4B-9E91-4C43-8393-061F11E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428750"/>
            <a:ext cx="1752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automated tests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B9208F-3567-40F5-9BD7-BBADC1CC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657350"/>
            <a:ext cx="1752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270 skipped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B2CDF1-A4A8-4A05-AF8A-FC30B7B2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9CB1D1-465B-4A69-9054-DBD43F60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52DA8F-D392-41F9-B46E-5C5A4122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62200"/>
            <a:ext cx="1752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100%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AD6083-82F9-4336-B036-1FB7104C3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724150"/>
            <a:ext cx="1752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conflict handling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59ACA2-9228-4EBA-A609-B849374F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52750"/>
            <a:ext cx="1752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95 conflicts resolved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365C2A-ECC5-4DDF-BC41-FD287937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2098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AECE3D-9A28-43EB-85B6-ECC1A13E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2098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3F6B2F-A08B-4FC2-921F-F4EBA03D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362200"/>
            <a:ext cx="1752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0 dropped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A5B792-E645-4029-BE2E-3F8E0321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724150"/>
            <a:ext cx="1752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communication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E1888D4-343A-4177-9E87-9D5FC8D2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952750"/>
            <a:ext cx="1752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12,245 delivered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13A12C-A3DF-47B7-B57E-92CFD592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4476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A public explanation of how SDACS predicts drone conflicts, issues ATC-style advisories, and verifies safety behavior before real-world flight trials.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8DDC35-C7E0-4B87-8432-3415156B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685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1 / 10</a:t>
            </a:r>
          </a:p>
        </p:txBody>
      </p:sp>
    </p:spTree>
    <p:extLst>
      <p:ext uri="{BB962C8B-B14F-4D97-AF65-F5344CB8AC3E}">
        <p14:creationId xmlns:p14="http://schemas.microsoft.com/office/powerpoint/2010/main" val="137357465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A11AEA-15DD-4326-B331-7847CE6C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0EC4D5-6D53-447C-B9D3-359F4890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571500"/>
            <a:ext cx="49530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4B4718-4715-4E99-9AB7-BA50B0E0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-285750"/>
            <a:ext cx="4191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4C5067-0373-438E-B9F9-6435BEC3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A737F5-7490-46BC-975C-1533F4EB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94870-A874-41B3-9423-69EB1B64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WHY IT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E4163-CB9D-481C-A46A-E0E225F4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드론이 많아질수록 하늘은 교차로가 됩니다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8E28D9-859C-4B66-AFE3-7BD683E3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고정 항로와 사람 관제만으로는 밀집 상황, 날씨, 배터리, 통신 지연을 모두 처리하기 어렵습니다.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B677B-FE6B-490F-B9A8-F902D5A2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3143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A5B1FE-3460-4DF4-B591-D2366AC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571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EA3341-486A-4DED-B014-69B33965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533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D6E70A-362A-4AF3-B397-4FE7F73C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공역 혼잡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4F96BA-2312-464E-9DC9-1BD09536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26098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배송, 촬영, 점검, 재난 대응 드론이 같은 저고도 공역을 공유합니다.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D65A7A-E311-4641-8646-B2C7EF54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76450"/>
            <a:ext cx="3143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17EC69-D6A8-418B-B44D-813E18D7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76450"/>
            <a:ext cx="571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1A8D9-8B5B-42E0-8FE1-77C7D248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66950"/>
            <a:ext cx="533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FF5D1D-C776-4049-B3E0-324233F4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72415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상황 변화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40F9FA-A66D-4AE2-A693-7B4DFB62E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76600"/>
            <a:ext cx="26098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바람, 금지구역, 배터리 부족, GPS/통신 문제가 비행 중에도 계속 발생합니다.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7B87EE-A413-43D3-BEC1-F07A90AE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76450"/>
            <a:ext cx="3143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773938-4D35-4BCC-A59C-DC7FB775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76450"/>
            <a:ext cx="571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C16C64-8613-4DFA-8844-9C32BD8D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66950"/>
            <a:ext cx="533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D87647-7BA1-47A0-9E91-4BB9D4DF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2415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검증 비용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DAC646-7032-4149-8E7D-7E2B350C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76600"/>
            <a:ext cx="26098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실제 비행으로 모든 위험 상황을 실험하기 어렵기 때문에 재현 가능한 시뮬레이터가 필요합니다.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2F5BC8-986D-4FD3-A6AD-A855755A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101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SDACS의 역할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3483A9-D103-4F0C-8538-1CF990D62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10150"/>
            <a:ext cx="809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드론의 현재 상태를 보고, 가까운 미래의 충돌 가능성을 계산하고, 필요하면 관제 권고와 경로 재계획으로 실제 충돌을 막습니다.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F3AF22-EBA8-4DA6-BEE0-22C4CD05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6B713A-FF6A-4496-8A15-DDE13F01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2 / 10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7CD372-E7F8-4B9F-9296-82B2B122E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4931863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2E10A9-0594-42AA-9624-2C6C52EC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1F6A99-53B2-45FB-A79C-C911604A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571500"/>
            <a:ext cx="49530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5F900D-F542-4654-90A7-38342C519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-285750"/>
            <a:ext cx="4191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61350-21D6-4F4C-B6E8-BA13F619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D9058E-8B52-44A7-8116-D495FB16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4929F1-784D-4A6F-BC6C-112391E5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CORE IDEA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418008-C3FF-4868-A359-D03BAB2B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SDACS는 안전 루프를 반복 실행합니다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6C9F2D-4FE2-47BE-BC5A-326B29FE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감지, 예측, 권고, 재계획, 관찰을 하나의 검증 가능한 흐름으로 연결합니다.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10B84A-F0CB-4B33-B044-ED335311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66950"/>
            <a:ext cx="17716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78B32A-C27F-4A2B-9929-DBBB5199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6695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6CD075-E57B-4650-B7AE-20438330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Sense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8D4130-3E28-4D73-92A2-1711B08F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14478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위치, 속도, 임무, 배터리, 통신 상태 수집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518B7A-8F40-457A-A7D5-87893230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05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EADF6C-6206-4C0E-A8CD-648C3E62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57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ADE647-4635-43BB-A08B-417606DE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66950"/>
            <a:ext cx="17716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EAF237-1F03-4BF5-9316-7E76C6F0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6695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B06176-E376-43A2-B374-840807F7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003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Predict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EF8A82-CFD0-4FAE-BE5D-996B979A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686050"/>
            <a:ext cx="14478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CPA 기반 접근 위험과 near miss 후보 계산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67BA6F-DDBC-42EB-BBB6-DCEA9021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05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145ADE-ECA5-45FD-B1D4-0A942587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57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9085B2-2AEC-4C38-AC0D-9A10D7B8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266950"/>
            <a:ext cx="17716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16E6C0-6A23-493C-A21B-9852C03B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26695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0856EA-9480-49CB-B4AD-049518451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4003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Advise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654071-007B-4334-ACFD-0E5BA993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686050"/>
            <a:ext cx="14478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속도, 고도, 대기, 복귀, 회피 권고 발행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4405F0-3694-40C9-9A5E-C6470067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05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F6BA19-12E3-4FF8-9925-6322C71B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57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58D41A-129D-4977-BA1C-AA3CF774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266950"/>
            <a:ext cx="17716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A34E27-D6FB-4F54-95DF-0975504B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26695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D5BB9-247C-495C-B0C6-1136C266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003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Replan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5AB43F-0BF6-4BC0-8C39-3D46A232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86050"/>
            <a:ext cx="14478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APF, CBS, A* fallback으로 안전 경로 조정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E936D5-3477-456F-99B1-733243BF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105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1BEF21C-3C85-43C3-91DE-BD58D5BA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057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0F599F-95B6-41CB-823A-59F6630A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266950"/>
            <a:ext cx="17716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27FD82A-7B22-4A98-8A4D-6BEE3ACB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26695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758DE09-4626-4699-8B5D-EB075946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003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Observe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D85FF3-CEA5-4E4C-911C-30824A6C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86050"/>
            <a:ext cx="14478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충돌, 거리, 에너지, 통신, 해결률 KPI 기록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1D6913A-C47B-44E3-943C-E1DC79CA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91050"/>
            <a:ext cx="981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이 루프는 시뮬레이션의 매 순간 반복됩니다. 그래서 단일 회피 알고리즘이 실패해도 관제 권고와 재계획 단계가 위험을 다시 잡아냅니다.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9CE579F-AADA-492D-9059-6F2A758F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2647E3-EE40-4255-9D15-FADF3AA8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3 / 10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718C95-CB15-417D-939D-2B41159D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9584137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C4EACD-96CF-4E62-998F-63DB3833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EBA00C-1013-4DA2-98E6-4DFA8D5D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571500"/>
            <a:ext cx="49530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A344DA-A3F5-44D4-A127-FB1A2A37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-285750"/>
            <a:ext cx="4191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AE260F-3F80-4810-970D-0B762D5A8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929D33-F304-4D70-9F13-561B4B2A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9DCD3B-8A68-4BC2-A482-BE2A278F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ARCHITECTURE MAP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C09147-5389-4F7F-ABFA-BE0E5E14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시뮬레이터, 관제기, 경로계획, 분석이 분리되어 있습니다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450D23-4247-440A-A637-4EF2C01E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대중 설명에서는 단순하게 보이지만, 내부는 검증과 확장을 위해 역할을 나눕니다.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849179-FB8D-46E4-916F-83FF4995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A4AE43-9D24-4695-A25F-569783C8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94E3BB-5EAF-4670-8D50-F248A45B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CLI / 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31AB22-BE9C-4E9F-AD54-9B6411ED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365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main.py, FastAPI, WebSocket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72A85C-38D4-4E9A-B9EF-48AEE73C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4330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B8B30B-1EA6-46F9-AF14-6983EA81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4330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CB5836-0F68-4EA4-AE42-403B2B3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3D / Dashboard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6A8C7C-DA7A-4B9F-B831-F43B3D46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955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HTML, Plotly, telemetry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951474-0CB3-48C0-B95B-DC8DC80D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62150"/>
            <a:ext cx="2667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86D766-59FC-4FE6-B206-6EBB5970B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6215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6A0962-D4CD-414D-AA9D-4047A2C3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14550"/>
            <a:ext cx="2324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Airspace Controller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2D0902-690B-4FBA-B343-4DC21752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438400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conflict detection, advisories, priorities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A338EF-D6A2-4CD7-BEE8-0FA3BA19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05200"/>
            <a:ext cx="2667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F14D42-0E09-4376-842E-9F5E7E6F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0520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3F9C4A-1A03-4B2D-A56D-CD87516F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657600"/>
            <a:ext cx="2324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Planner / Avoidance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A68003-1C21-491C-AF1C-2E3BABDE2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81450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APF, CBS, A*, fallback policies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0F9458-EE2B-41E3-A2C9-25D2521F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38350"/>
            <a:ext cx="228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A9D36A-0092-48DB-8337-CF5A0806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383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AD1D9D-EF65-45E7-B9D4-A9B57EE0C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9075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Simulator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EAB803-6B07-4B50-BC30-74F481CE6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51460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SimPy events, drones, weather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693F99-188C-4589-8235-919591B5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43300"/>
            <a:ext cx="228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4631A5-EE16-44B8-A178-1479C8D6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4330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708F93-A70C-4C7D-8468-9FE8E037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6957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Analytics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51E9E1-43F8-4002-B158-86E019B1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1955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KPI, event logs, reports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141016-4FE7-488C-8DD5-C7344EAB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57450"/>
            <a:ext cx="1581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64FB2E-3195-4C1D-BD3B-D9C006EA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09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F64C73-EDB2-48D0-996A-C87FF3FA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943350"/>
            <a:ext cx="1581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A5DEB1-564A-40A1-AE36-EA076EB3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95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2AADCE-A1AE-4C02-9B03-91CA6487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57450"/>
            <a:ext cx="1009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CADF239-F529-425B-99B1-F3DE3827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09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C9F5441-7D34-4591-A953-9DA62945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00500"/>
            <a:ext cx="1009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691DD7-CE98-485A-A8DA-EA1DFF41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952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44B129-7DA2-4C3D-B515-1861A6CF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90850"/>
            <a:ext cx="285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3ED7DB-2E09-4E15-9060-29EA180F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14650"/>
            <a:ext cx="285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CF38B87-959C-4FB0-8998-A16B20F7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67300"/>
            <a:ext cx="9906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검증 포인트: 관제 판단과 시뮬레이터 상태가 분리되어 있어 테스트에서 위험 상황을 재현하고, 결과 KPI를 같은 방식으로 비교할 수 있습니다.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C870DDA-A758-44D6-A912-216253B5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C5A1D0D-11DF-4B13-9634-E3672E21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4 / 10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4B9028-A5CE-467E-8830-B5CF544B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73510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65C352-24FB-487D-ADA1-466F688A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3EE6F5-AF6B-440D-A351-5E962D61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571500"/>
            <a:ext cx="49530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52E707-3BE2-4D5E-8640-428D5493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-285750"/>
            <a:ext cx="4191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B11258-8D60-403D-87F3-EFD11EC1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E615F5-D94D-456E-A5D6-207CAF8E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4A9D5-E020-4FD3-9E3F-E62C0AB3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SAFETY STACK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59D06A-7EB2-4A25-A31C-0A39EA61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충돌 방지는 한 가지 기법이 아니라 겹겹의 안전망입니다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FEB593-0DAF-46BB-BAE2-E560E55C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예측, 회피, 재계획, 관제 권고가 서로 보완합니다.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130070-369D-44E1-83EA-B2EDF066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D662FA-2763-47A1-8DE1-CD8368D71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812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F2C735-CC50-4153-B709-80B33AA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478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36C8B9-4738-45C4-A6D2-A376407A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0002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CPA 예측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FFE2C2-30D7-44B5-A234-DC3B22A7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09775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가까운 미래에 두 드론이 얼마나 근접하는지 계산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BAE77C-7B51-42CF-94F8-AE02E2D44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2890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8734D8-124D-422B-8081-6CDEFEBCF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241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BA9BC1-3DD3-4236-87B1-77A5BDD1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908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163BAE-B6D1-4A5F-8C76-869E3E2F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32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APF 회피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874650-75C2-40E1-926B-AEE0B2CA3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52725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가까워지는 드론을 가상의 힘으로 밀어내듯 회피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1EC9C3-BAFD-40BF-B012-8C624AE5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7185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B45833-4688-48AA-BCBD-FC1A7498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671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D96985-9CB4-4C63-812C-73582315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337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C31379-6EA2-4060-AFA0-DAE897C3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4861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CBS 조정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973384-8157-47FF-9983-33AE7FCC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495675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여러 드론의 경로 충돌을 제약 기반으로 조정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4BE3A1-650B-4991-977D-F2890F23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0CC04C-1BB3-495C-8003-04B6F04B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100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6EE75F-D2F2-4BD0-B578-0753F065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767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AB2995-4DBC-44AB-A217-E33364BE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229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A* fallback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0C2EF3-3FC1-4824-897A-289C4854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238625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세부 격자 경로가 필요할 때 안전한 대체 경로 탐색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706785-3D7E-423F-8A07-15FF5026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5775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B894A0-0440-47CD-9EEE-49A3CD6D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DEBFBC-026F-4386-B8FF-CC87C814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4EBE90-CB8D-4BDC-AE92-749AA58F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9720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ATC advisory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FDC049-2A0F-449B-B21C-C3C3F876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981575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대기, 복귀, 고도/속도 변경 같은 관제 지시 발행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90D0D6-6997-497F-BFA6-EAE23533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15000"/>
            <a:ext cx="933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핵심은 실패 지점을 하나로 만들지 않는 것입니다. SDACS는 위험 탐지와 대응을 여러 단계로 나눠, 충돌 직전이 아니라 그 전에 조정합니다.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8E38CD6-E376-421E-B48B-0AA50E8C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62B6B2-3044-4F12-A23B-F3C3189C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5 / 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02F248-F63E-4881-A4F1-3C040589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6993619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9A0993-1EBA-4EEF-B49F-BC4668B8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A79D7B-0D73-45B0-870D-FB2B09F0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571500"/>
            <a:ext cx="49530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97365F-D71E-4F39-89D7-4C42B956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-285750"/>
            <a:ext cx="4191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25BB59-A848-4E8A-B846-5FF3B1DE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73112-B775-4766-9FD4-42182ECE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0B67E-A9CE-4CDE-86A6-92077A57D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VERIFIED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6F22F1-B550-4480-A274-AF5EB956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최신 로컬 검증 결과를 README 기준 수치로 사용했습니다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C56CCB-C322-4780-BF38-29FE767A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2026-06-13: 100대, 60초, seed 42 대표 시뮬레이션과 전체 테스트 스위트 기준.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DA4DB2-7BA2-4258-ADF1-63A2B6FC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2343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9B579D-3294-4EC6-9A02-66B9A13F5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D61C06-C86C-414C-BDE6-E3CF3048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0 collisions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324DDB-3691-4130-A7E1-A89EFC53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simulation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7F4848-AF83-4AC2-9C0B-627EA35A5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near miss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63F10D-C421-427F-97C7-5D8577C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81200"/>
            <a:ext cx="2343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7CA180-1A10-4817-931B-42805C0C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812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1A745C-A0BB-497D-B631-9E8A3CFD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3360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4,291 pass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BAC0F8-1DC8-47FF-AF0F-A0104B85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955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pytest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195941-82C5-4313-946F-E937C898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7241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270 skipped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AE5CE9-C87E-465B-8D82-AA03C5EC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981200"/>
            <a:ext cx="2343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E201B3-AB75-4CB2-A295-8BDB9C7A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9812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8317DF-42C4-4782-9F69-00A6F76D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3360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2638DF-B17C-4D77-A586-24C1F0FD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955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conflict resolution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DF38A5-0F99-4A4E-A970-D23C7E9A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7241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95 total conflicts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96CEFF-D825-4539-BADB-F1D4DDF1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81200"/>
            <a:ext cx="2343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63E"/>
          </a:solidFill>
          <a:ln xmlns:a="http://schemas.openxmlformats.org/drawingml/2006/main" w="9525">
            <a:solidFill>
              <a:srgbClr val="21476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D93A41-FFE2-4D27-B2B4-3B85BEAD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812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E08427-643B-42A4-A79E-449D2FE16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3360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0 dropped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5F0B7C-838D-4BFC-902B-A7F960B8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4955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communications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766713-2336-421B-8003-E5BFAAD8B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241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12,245 delivered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0A538B-6EBF-43C8-8378-4799B902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65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7BA56E-CAEC-41FE-AA39-4629EE7A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004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KPI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D6B0DC-90C1-435C-980F-CA9A8DA0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5242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65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F9A413-158E-44A7-997C-A3416B8B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004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Result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84AC98-C36B-4515-9152-F284FDD4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5242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65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0C8D45-076D-4BC2-95F2-1A852FC5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6004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KPI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6B8633-6D91-4985-BD57-5937167B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242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65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4365EA-6613-4839-A890-86A51938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004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Result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0A417A9-A8CC-4420-B7ED-B0BCB680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929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876"/>
          </a:solidFill>
          <a:ln xmlns:a="http://schemas.openxmlformats.org/drawingml/2006/main" w="0">
            <a:solidFill>
              <a:srgbClr val="2B587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2FDC2E-C85E-4903-A6F2-87799911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243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6E4E4B2-321B-42CD-9F16-9C494725E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005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Advisories issued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C6DB31-1233-4D9F-8906-15BE580F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9243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A25002-7DBC-4A41-AD0F-C12D7EFC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005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45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4B44DE-DE5A-404B-BA24-509A35A7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243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1C5AE65-8399-4F23-B1B1-82F7E797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0005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Completed legs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7280B90-73A1-4557-99DF-CCF9F0E3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243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DD1616F-D05B-4527-B7DF-7106E890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005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66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F21570C-BBB7-479B-920B-1ECEAF4F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24300"/>
            <a:ext cx="929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876"/>
          </a:solidFill>
          <a:ln xmlns:a="http://schemas.openxmlformats.org/drawingml/2006/main" w="0">
            <a:solidFill>
              <a:srgbClr val="2B5876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A850E8-AE3B-407B-87EA-664D834E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243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625A3E4-77AB-4D7D-909F-723FEBF8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00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CBS attempts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87C180F-F113-47D8-82FB-5556DDEE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3243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FFC64A9-78A5-4A2B-BA68-B1C544713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00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9 / 9 success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2FB0073-12A0-4141-93E5-2D320B0F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3243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5F9AF3B-818D-4D55-88A3-52BD3B89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400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A* fallbacks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986F41D-DBD1-48B0-BBCE-2FFE0582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32435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90B6074-D702-4BE6-8582-ACB6FAA1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400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115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9FE7493-8CA8-475C-9E66-2F92CD86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24350"/>
            <a:ext cx="929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876"/>
          </a:solidFill>
          <a:ln xmlns:a="http://schemas.openxmlformats.org/drawingml/2006/main" w="0">
            <a:solidFill>
              <a:srgbClr val="2B587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9BDCE53-4EEC-4C65-98E8-B904FE869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244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963AE50-6787-45B6-AA01-AAFAD07E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006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Total distance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0243FAB-3DE5-4160-9F2D-55C5F01D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244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F911512-A06E-4AD9-96BC-666EE4D3F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006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23.429 km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EB160D0-E690-4D29-9280-0E2522B2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244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05CB574-8EFC-4C1B-8C08-EC7E272E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8006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Energy efficiency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927F729-6F44-4752-B27B-424402F6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7244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B5876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B039A05-0D45-4857-AFC1-A5B77E446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0060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2.85 Wh/km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7600FA0-D6A0-410E-B80B-79E23D54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24400"/>
            <a:ext cx="929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876"/>
          </a:solidFill>
          <a:ln xmlns:a="http://schemas.openxmlformats.org/drawingml/2006/main" w="0">
            <a:solidFill>
              <a:srgbClr val="2B5876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5FA6821-E79A-43DB-B9D7-8B302DB4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9715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검증 명령: python -m ruff check .  |  python -m pytest -q -n 0 --no-cov  |  python main.py simulate --duration 60 --drones 100 --seed 42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567550D-713F-411B-B08C-1124B660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C601EED-1322-4CEC-AE41-F9B093B3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6 / 10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9F6485F-07E2-4441-ADD6-A75A78EF9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9636117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3E066C-F856-4C66-983A-0D367131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EC8ABB-B5B2-4FF7-BC7F-40A55CA0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571500"/>
            <a:ext cx="49530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17E322-A719-48DA-8CC4-116C78F4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-285750"/>
            <a:ext cx="4191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AF1C4B-28EF-4F69-983A-67EF1EAD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42BC63-CB50-4843-A924-A5414E9C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8F94D6-7A9E-4F0E-843E-AF1437CF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WHO CAN USE 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EEE5E2-1391-487F-B673-960C3EF9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공개 설명의 초점은 이해 가능한 가치입니다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C16D2A-AD2C-4494-885F-3CC13D51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연구용 시스템이지만, 각 이해관계자가 보는 질문은 다릅니다.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9DCB54-39F8-4CB4-8755-CBB08BDB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4629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4F326D-31C3-4DD3-AEBB-00B9F3B0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57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B74901-EEDC-45E0-A0F8-28F6259F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28850"/>
            <a:ext cx="390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8B7D8"/>
                </a:solidFill>
                <a:latin typeface="Malgun Gothic"/>
                <a:ea typeface="Malgun Gothic"/>
                <a:cs typeface="Malgun Gothic"/>
              </a:rPr>
              <a:t>학생 / 연구자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2F0251-04ED-4314-8C27-AD812CA7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09850"/>
            <a:ext cx="398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충돌 예측, 경로 재계획, 시뮬레이션 실험을 재현 가능한 코드로 학습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A9A81E-79D4-44EB-B8FE-438E33C6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38350"/>
            <a:ext cx="4629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1A47EB-FE07-454A-986A-C3894F10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38350"/>
            <a:ext cx="57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73084C-BA7F-46DE-B164-41168220E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28850"/>
            <a:ext cx="390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드론 운용자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29E5E1-7464-48E4-868C-4F5CD81C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09850"/>
            <a:ext cx="398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밀집 운용 전에 위험 시나리오와 관제 정책을 낮은 비용으로 점검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349D13-4044-4D60-9169-5ECCCFFF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8100"/>
            <a:ext cx="4629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9291DE-7786-4D8C-9C3A-A6091E17B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8100"/>
            <a:ext cx="57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9D031C-7758-4779-BB67-C3A33552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390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공공기관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5D7772-D4AC-49FA-BBBB-EE2E6EDB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398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재난, 행사, 시설 공역 운용 절차를 시각 자료와 KPI로 설명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D234FF-C07C-4F19-A0ED-2D8689F2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48100"/>
            <a:ext cx="4629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EF646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4C508D-05C7-49C9-B099-96D567EA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48100"/>
            <a:ext cx="57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461"/>
          </a:solidFill>
          <a:ln xmlns:a="http://schemas.openxmlformats.org/drawingml/2006/main" w="0">
            <a:solidFill>
              <a:srgbClr val="EF646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A9472-74C4-4623-A696-BBCA6079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390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F6461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EF6461"/>
                </a:solidFill>
                <a:latin typeface="Malgun Gothic"/>
                <a:ea typeface="Malgun Gothic"/>
                <a:cs typeface="Malgun Gothic"/>
              </a:rPr>
              <a:t>일반 대중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F9ACA1-F45A-45EB-AD6F-26E871EE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19600"/>
            <a:ext cx="398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왜 드론 교통관리가 필요한지 3D 시뮬레이터와 발표자료로 이해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BCB4FC-9979-4BA3-BE33-D70B4365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공개용 보고서와 PPTX는 이 네 대상이 같은 자료를 보더라도 각자 필요한 정보를 찾을 수 있도록 구성했습니다.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C1A78E-9E5F-4B7F-A3DE-56D8ACE7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F75ED9-ACAD-4CA9-9176-FFB62AFD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7 / 10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74DFDE-BC07-4572-BC74-D3CE7F56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4193730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7451FD-7C3D-477C-A16A-35A8CEF7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DCA99E-3633-4280-A22C-CEDFC788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571500"/>
            <a:ext cx="49530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4A9797-E8B7-4D08-8AE4-5AC2735C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-285750"/>
            <a:ext cx="4191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79CBA-E6DC-497C-BDA1-B7010FE74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A8C0A6-A46F-4137-B9F5-B0206CF1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2A8F4A-5BA0-42AD-87A3-2B6BA8C3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REPOSITORY MAP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C2C00A-1284-408A-A5D6-AEBF4828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README에서 바로 이어지는 탐색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D13CB6-2E5F-4E42-B751-2E26DE7C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코드를 직접 보려는 사람과 문서만 보려는 사람 모두에게 짧은 입구를 제공합니다.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F8569-FEAD-45F0-867F-EDA6F77B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46863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C596B1-0700-4B96-9E1A-4960DEA67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571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523AD5-B71D-4EB2-A781-63930DB3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526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Code paths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801065-85EE-49EA-A9E9-8AAC9FF7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47950"/>
            <a:ext cx="3848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main.py simulate</a:t>
            </a:r>
          </a:p>
          <a:p xmlns:a="http://schemas.openxmlformats.org/drawingml/2006/main">
            <a:pPr algn="l">
              <a:def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simulation/  engine, drones, ATC loop</a:t>
            </a:r>
          </a:p>
          <a:p xmlns:a="http://schemas.openxmlformats.org/drawingml/2006/main">
            <a:pPr algn="l">
              <a:def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src/         API, analytics, security, models</a:t>
            </a:r>
          </a:p>
          <a:p xmlns:a="http://schemas.openxmlformats.org/drawingml/2006/main">
            <a:pPr algn="l">
              <a:def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tests/       unit, integration, CLI, simulator</a:t>
            </a:r>
          </a:p>
          <a:p xmlns:a="http://schemas.openxmlformats.org/drawingml/2006/main">
            <a:pPr algn="l">
              <a:def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benchmarks/  scenario manifests and comparisons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3F0593-7A27-4E3F-B4CE-79B3426E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43100"/>
            <a:ext cx="46863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F5B94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9B494C-2D20-4AEF-B26C-3DABC699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43100"/>
            <a:ext cx="571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E4121C-79DE-46E2-B074-8B71418B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5265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Public materials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C78FB5-87CA-4FD8-8085-394B89D5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3810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README.md</a:t>
            </a:r>
          </a:p>
          <a:p xmlns:a="http://schemas.openxmlformats.org/drawingml/2006/main">
            <a:pPr algn="l">
              <a:def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docs/INDEX.md</a:t>
            </a:r>
          </a:p>
          <a:p xmlns:a="http://schemas.openxmlformats.org/drawingml/2006/main">
            <a:pPr algn="l">
              <a:def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docs/report/SDACS_Public_Project_Report_2026.docx</a:t>
            </a:r>
          </a:p>
          <a:p xmlns:a="http://schemas.openxmlformats.org/drawingml/2006/main">
            <a:pPr algn="l">
              <a:def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docs/presentation/SDACS_Public_Project_Overview_2026.pptx</a:t>
            </a:r>
          </a:p>
          <a:p xmlns:a="http://schemas.openxmlformats.org/drawingml/2006/main">
            <a:pPr algn="l">
              <a:def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docs/demo/ and existing capstone materials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EA83C0-911B-4750-8701-0D3B5342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81650"/>
            <a:ext cx="962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최적화 포인트: README 상단에 최신 공개 자료와 검증 수치를 묶어, 처음 방문한 사람이 프로젝트의 목적과 현재 신뢰도를 즉시 확인하도록 정리합니다.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52901D-E2B6-4C3E-A1D9-6F1B8F27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8A328C-F78E-410C-9EB0-30A7E084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8 / 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2E544D-2485-4886-AD66-A9BCD756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44645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D598FA-2973-4B1F-97BE-8AA02518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44698-E348-450B-9A52-FF14E0D5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571500"/>
            <a:ext cx="49530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17BF65-16BB-41BF-BF96-2586B75C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-285750"/>
            <a:ext cx="4191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70FA90-EF12-48D9-9855-CF8B85A0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0A2EF4-5A9D-402E-A33A-72BFBC19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C228E4-1AD0-4D86-8EC5-3D65905F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MATURITY &amp; LIMITS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FFC0F9-696D-460D-B2B8-F254503B9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현재 증명한 것과 다음에 증명할 것을 분리합니다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AB3AEF-A729-480C-958E-E0E6D88B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838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대중 설명 자료는 장점을 말하되, 실제 운용 전 검증이 필요한 영역도 함께 표시합니다.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4C9CA-3B53-4E2D-BFA3-7AF02A2B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19300"/>
            <a:ext cx="48196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D102DC-51D5-48D1-9481-976E7F37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19300"/>
            <a:ext cx="57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3D36DB-9B10-4303-B41B-D71E2DD7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47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9D398"/>
                </a:solidFill>
                <a:latin typeface="Malgun Gothic"/>
                <a:ea typeface="Malgun Gothic"/>
                <a:cs typeface="Malgun Gothic"/>
              </a:rPr>
              <a:t>Validated now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9871FC-0DDA-44EC-A760-84150215F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81300"/>
            <a:ext cx="3714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• 100대 60초 대표 시뮬레이션</a:t>
            </a:r>
          </a:p>
          <a:p xmlns:a="http://schemas.openxmlformats.org/drawingml/2006/main">
            <a:pPr algn="l">
              <a:def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• 충돌 0건, near miss 1건</a:t>
            </a:r>
          </a:p>
          <a:p xmlns:a="http://schemas.openxmlformats.org/drawingml/2006/main">
            <a:pPr algn="l">
              <a:def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• 전체 테스트 4,291건 통과</a:t>
            </a:r>
          </a:p>
          <a:p xmlns:a="http://schemas.openxmlformats.org/drawingml/2006/main">
            <a:pPr algn="l">
              <a:def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• 통신/에너지/KPI 수집</a:t>
            </a:r>
          </a:p>
          <a:p xmlns:a="http://schemas.openxmlformats.org/drawingml/2006/main">
            <a:pPr algn="l">
              <a:def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• 보고서와 PPTX 공개 배포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E39B71-71C8-42E7-A056-0EF0E38E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19300"/>
            <a:ext cx="48196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0979D8-472B-4776-9D0D-C59129C7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19300"/>
            <a:ext cx="57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0">
            <a:solidFill>
              <a:srgbClr val="F5B9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D9A5A4-9C90-41D1-8FB7-835212BF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247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Next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85121D-1EFD-4648-BB8A-6A3D8986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81300"/>
            <a:ext cx="38290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• 더 큰 드론 수와 장시간 운용</a:t>
            </a:r>
          </a:p>
          <a:p xmlns:a="http://schemas.openxmlformats.org/drawingml/2006/main">
            <a:pPr algn="l">
              <a:def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• 실제 센서/HITL 연결 검증</a:t>
            </a:r>
          </a:p>
          <a:p xmlns:a="http://schemas.openxmlformats.org/drawingml/2006/main">
            <a:pPr algn="l">
              <a:def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• 동적 금지구역/날씨/통신 지연 분리 벤치마크</a:t>
            </a:r>
          </a:p>
          <a:p xmlns:a="http://schemas.openxmlformats.org/drawingml/2006/main">
            <a:pPr algn="l">
              <a:def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• 공개 데모 UX 단순화</a:t>
            </a:r>
          </a:p>
          <a:p xmlns:a="http://schemas.openxmlformats.org/drawingml/2006/main">
            <a:pPr algn="l">
              <a:def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32433"/>
                </a:solidFill>
                <a:latin typeface="Malgun Gothic"/>
                <a:ea typeface="Malgun Gothic"/>
                <a:cs typeface="Malgun Gothic"/>
              </a:rPr>
              <a:t>• 수치 출처 자동 갱신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829D84-A623-4EF7-8806-535469E2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10200"/>
            <a:ext cx="9410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이 구분은 프로젝트를 더 신뢰할 수 있게 만듭니다. 이미 검증한 범위를 명확히 하고, 다음 단계는 검증 계획으로 제시합니다.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6CAFC4-8DFC-4D0B-9115-E8F0E457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3890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SDACS | Swarm Drone Airspace Control System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4CE4E8-025F-4AF5-9C7F-130F27C4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9 / 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DFE690-C00B-4B0B-A8D4-992186D0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764"/>
          </a:solidFill>
          <a:ln xmlns:a="http://schemas.openxmlformats.org/drawingml/2006/main" w="0">
            <a:solidFill>
              <a:srgbClr val="21476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5426839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B2AB3F-738F-4F59-8C2A-CA75DC9E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0">
            <a:solidFill>
              <a:srgbClr val="0B1F3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CAAA1-C311-4EE6-803B-CB418786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571500"/>
            <a:ext cx="49530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F9D1C0-9EBC-4D9A-AF5D-3A68FE7E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-285750"/>
            <a:ext cx="4191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F88EF1-DDDB-44F4-BDB6-7DE18EF2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53B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2949A-1A7D-4B43-82E2-26FB00790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123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35B2CD-393B-4B74-9E0E-EA4DBDF9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7429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How to read or try SDACS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113F7B-86A4-4E9F-B664-A40A371D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781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README에서 공개 보고서, 공개 발표자료, 시뮬레이션 명령을 한 번에 확인할 수 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0F9B25-88BC-44E7-894D-17C3416B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9448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EA9BA1-7386-429D-BD90-6AD837F5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E9E5CC-FF9A-4B74-8206-88898947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00275"/>
            <a:ext cx="26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515586-7256-469F-9CE6-FA05087F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00275"/>
            <a:ext cx="1219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Read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6B9B7D-0C16-4C99-BE7F-C1179A25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098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README.md → Public Project Materials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E0AD50-3E9C-4A74-80F5-46EDC0AE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9448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7A1539-95BF-4B2C-AAA3-5EB7E1261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BDF252-4496-4DFF-B54F-3171F39D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00375"/>
            <a:ext cx="26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5C36D1-BB2D-4918-9BF4-8C423214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00375"/>
            <a:ext cx="1219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Verify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C127AA-3ADA-4EA3-B39C-18BAA55F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99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python -m pytest -q -n 0 --no-cov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B2FCF1-7379-4F37-AC4B-C14A6060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76650"/>
            <a:ext cx="9448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18B7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1234EB-CB1C-45F2-AC1D-F1954D2A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766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B7D8"/>
          </a:solidFill>
          <a:ln xmlns:a="http://schemas.openxmlformats.org/drawingml/2006/main" w="0">
            <a:solidFill>
              <a:srgbClr val="18B7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67D3B5-7B58-4822-B7F9-5440E631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00475"/>
            <a:ext cx="26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D1D6A8-29B8-454A-9C08-947836F2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800475"/>
            <a:ext cx="1219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Simulate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EBD034-2A0F-4DDB-A199-6D55DD66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100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python main.py simulate --duration 60 --drones 100 --seed 42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502BA1-2309-4285-BCBC-14B2C270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9448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A43"/>
          </a:solidFill>
          <a:ln xmlns:a="http://schemas.openxmlformats.org/drawingml/2006/main" w="9525">
            <a:solidFill>
              <a:srgbClr val="29D39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B01BCF-E029-4071-B598-B2A02490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D398"/>
          </a:solidFill>
          <a:ln xmlns:a="http://schemas.openxmlformats.org/drawingml/2006/main" w="0">
            <a:solidFill>
              <a:srgbClr val="29D39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FE74D3-A45A-4BFB-8360-D6525370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00575"/>
            <a:ext cx="266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DB248B-F507-4ED7-A915-9E780150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00575"/>
            <a:ext cx="1219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8FAFC"/>
                </a:solidFill>
                <a:latin typeface="Malgun Gothic"/>
                <a:ea typeface="Malgun Gothic"/>
                <a:cs typeface="Malgun Gothic"/>
              </a:rPr>
              <a:t>Present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4963E4-795E-4306-9866-635D07586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101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D8E3EC"/>
                </a:solidFill>
                <a:latin typeface="Malgun Gothic"/>
                <a:ea typeface="Malgun Gothic"/>
                <a:cs typeface="Malgun Gothic"/>
              </a:rPr>
              <a:t>docs/presentation/SDACS_Public_Project_Overview_2026.pptx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42D62B-9E02-43A0-A568-FB18662F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4550"/>
            <a:ext cx="666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5B942"/>
                </a:solidFill>
                <a:latin typeface="Malgun Gothic"/>
                <a:ea typeface="Malgun Gothic"/>
                <a:cs typeface="Malgun Gothic"/>
              </a:rPr>
              <a:t>Public deliverables updated on 2026-06-13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AE8CAC-81F9-45D6-9134-75D1E538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924550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8CA7BA"/>
                </a:solidFill>
                <a:latin typeface="Malgun Gothic"/>
                <a:ea typeface="Malgun Gothic"/>
                <a:cs typeface="Malgun Gothic"/>
              </a:rPr>
              <a:t>10 / 10</a:t>
            </a:r>
          </a:p>
        </p:txBody>
      </p:sp>
    </p:spTree>
    <p:extLst>
      <p:ext uri="{BB962C8B-B14F-4D97-AF65-F5344CB8AC3E}">
        <p14:creationId xmlns:p14="http://schemas.microsoft.com/office/powerpoint/2010/main" val="9367193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2026-06-13T04:22:14.6070000Z</dcterms:created>
  <dcterms:modified xsi:type="dcterms:W3CDTF">2026-06-13T04:22:14.6070000Z</dcterms:modified>
</coreProperties>
</file>