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fa8c7a468c3415e" Type="http://schemas.openxmlformats.org/officeDocument/2006/relationships/extended-properties" Target="docProps/app.xml"/><Relationship Id="Rb5c7c8782be34628" Type="http://schemas.openxmlformats.org/officeDocument/2006/relationships/officeDocument" Target="ppt/presentation.xml"/><Relationship Id="Rca7fa985f45344da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91a061ee494174"/>
  </p:sldMasterIdLst>
  <p:notesMasterIdLst>
    <p:notesMasterId xmlns:r="http://schemas.openxmlformats.org/officeDocument/2006/relationships" r:id="R8a639a62b0a34d8e"/>
  </p:notesMasterIdLst>
  <p:sldIdLst>
    <p:sldId xmlns:r="http://schemas.openxmlformats.org/officeDocument/2006/relationships" id="256" r:id="R01c3194b6f664f89"/>
    <p:sldId xmlns:r="http://schemas.openxmlformats.org/officeDocument/2006/relationships" id="257" r:id="R002475d0155b48f8"/>
    <p:sldId xmlns:r="http://schemas.openxmlformats.org/officeDocument/2006/relationships" id="258" r:id="Rfbb14faa1da94d88"/>
    <p:sldId xmlns:r="http://schemas.openxmlformats.org/officeDocument/2006/relationships" id="259" r:id="Raecd4350a8144799"/>
    <p:sldId xmlns:r="http://schemas.openxmlformats.org/officeDocument/2006/relationships" id="260" r:id="R201f76dcdc9b47f1"/>
    <p:sldId xmlns:r="http://schemas.openxmlformats.org/officeDocument/2006/relationships" id="261" r:id="R75604628779b428c"/>
    <p:sldId xmlns:r="http://schemas.openxmlformats.org/officeDocument/2006/relationships" id="262" r:id="R6c332b7cd2ec4246"/>
    <p:sldId xmlns:r="http://schemas.openxmlformats.org/officeDocument/2006/relationships" id="263" r:id="Ra647244d3b5b4361"/>
    <p:sldId xmlns:r="http://schemas.openxmlformats.org/officeDocument/2006/relationships" id="264" r:id="R04e8a450c9174865"/>
    <p:sldId xmlns:r="http://schemas.openxmlformats.org/officeDocument/2006/relationships" id="265" r:id="Rc0f63d3eae484ce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02475d0155b48f8" Type="http://schemas.openxmlformats.org/officeDocument/2006/relationships/slide" Target="slides/slide2.xml"/><Relationship Id="R01c3194b6f664f89" Type="http://schemas.openxmlformats.org/officeDocument/2006/relationships/slide" Target="slides/slide1.xml"/><Relationship Id="R04e8a450c9174865" Type="http://schemas.openxmlformats.org/officeDocument/2006/relationships/slide" Target="slides/slide9.xml"/><Relationship Id="R201f76dcdc9b47f1" Type="http://schemas.openxmlformats.org/officeDocument/2006/relationships/slide" Target="slides/slide5.xml"/><Relationship Id="R6691a061ee494174" Type="http://schemas.openxmlformats.org/officeDocument/2006/relationships/slideMaster" Target="slideMasters/slideMaster1.xml"/><Relationship Id="R6c332b7cd2ec4246" Type="http://schemas.openxmlformats.org/officeDocument/2006/relationships/slide" Target="slides/slide7.xml"/><Relationship Id="R7404c7651c59473f" Type="http://schemas.openxmlformats.org/officeDocument/2006/relationships/theme" Target="theme/theme1.xml"/><Relationship Id="R75604628779b428c" Type="http://schemas.openxmlformats.org/officeDocument/2006/relationships/slide" Target="slides/slide6.xml"/><Relationship Id="R8a639a62b0a34d8e" Type="http://schemas.openxmlformats.org/officeDocument/2006/relationships/notesMaster" Target="notesMasters/notesMaster1.xml"/><Relationship Id="Ra647244d3b5b4361" Type="http://schemas.openxmlformats.org/officeDocument/2006/relationships/slide" Target="slides/slide8.xml"/><Relationship Id="Raecd4350a8144799" Type="http://schemas.openxmlformats.org/officeDocument/2006/relationships/slide" Target="slides/slide4.xml"/><Relationship Id="Rbf2e59c258724560" Type="http://schemas.openxmlformats.org/officeDocument/2006/relationships/tableStyles" Target="tableStyles.xml"/><Relationship Id="Rc0f63d3eae484cec" Type="http://schemas.openxmlformats.org/officeDocument/2006/relationships/slide" Target="slides/slide10.xml"/><Relationship Id="Rd2f7cafbeefd4f88" Type="http://schemas.openxmlformats.org/officeDocument/2006/relationships/presProps" Target="presProps.xml"/><Relationship Id="Rfbb14faa1da94d88" Type="http://schemas.openxmlformats.org/officeDocument/2006/relationships/slide" Target="slides/slide3.xml"/><Relationship Id="Rfea9bc2c6f694203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0d4de87e3db34d6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8677cf27c274516" Type="http://schemas.openxmlformats.org/officeDocument/2006/relationships/notesMaster" Target="../notesMasters/notesMaster1.xml"/><Relationship Id="R698dd2e918fb4c90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6ad5e807577425e" Type="http://schemas.openxmlformats.org/officeDocument/2006/relationships/slide" Target="../slides/slide2.xml"/><Relationship Id="R93b6a47029a84b00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8830de0cc474357" Type="http://schemas.openxmlformats.org/officeDocument/2006/relationships/slide" Target="../slides/slide3.xml"/><Relationship Id="Rea0167b2047c4b9e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95adedb2994a432e" Type="http://schemas.openxmlformats.org/officeDocument/2006/relationships/notesMaster" Target="../notesMasters/notesMaster1.xml"/><Relationship Id="Rc861d4a622444a29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4cf3bb6fe29e4030" Type="http://schemas.openxmlformats.org/officeDocument/2006/relationships/notesMaster" Target="../notesMasters/notesMaster1.xml"/><Relationship Id="Rbc14396c249d4ff4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c358a68c87ff41fe" Type="http://schemas.openxmlformats.org/officeDocument/2006/relationships/notesMaster" Target="../notesMasters/notesMaster1.xml"/><Relationship Id="Rda445fb677f4440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15c1f587ebd0474c" Type="http://schemas.openxmlformats.org/officeDocument/2006/relationships/notesMaster" Target="../notesMasters/notesMaster1.xml"/><Relationship Id="Rc2029cb64b89492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ada56e4fb1664400" Type="http://schemas.openxmlformats.org/officeDocument/2006/relationships/notesMaster" Target="../notesMasters/notesMaster1.xml"/><Relationship Id="Re7636eab6cc34b64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3bea549baaf4649" Type="http://schemas.openxmlformats.org/officeDocument/2006/relationships/notesMaster" Target="../notesMasters/notesMaster1.xml"/><Relationship Id="Rf80cd3223ea34b08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ac1e49b4fc6d4443" Type="http://schemas.openxmlformats.org/officeDocument/2006/relationships/notesMaster" Target="../notesMasters/notesMaster1.xml"/><Relationship Id="Rbe73654b2e444dd3" Type="http://schemas.openxmlformats.org/officeDocument/2006/relationships/slide" Target="../slides/slide1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5e743af9ef9416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687dc5b59564143" Type="http://schemas.openxmlformats.org/officeDocument/2006/relationships/theme" Target="theme/theme2.xml"/><Relationship Id="Rfdcc1b195ac84bd6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cc1b195ac84b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cae1f9ebfde4164" Type="http://schemas.openxmlformats.org/officeDocument/2006/relationships/notesSlide" Target="../notesSlides/notesSlide1.xml"/><Relationship Id="Rc0742884771141c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224aea2be01840ac" Type="http://schemas.openxmlformats.org/officeDocument/2006/relationships/slideLayout" Target="../slideLayouts/slideLayout1.xml"/><Relationship Id="R8565364fd4164ce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596a84d126254a98" Type="http://schemas.openxmlformats.org/officeDocument/2006/relationships/slideLayout" Target="../slideLayouts/slideLayout1.xml"/><Relationship Id="R7e19f11eb1ae467a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1cf6c304b2934089" Type="http://schemas.openxmlformats.org/officeDocument/2006/relationships/slideLayout" Target="../slideLayouts/slideLayout1.xml"/><Relationship Id="R7c27aa96dfaf49c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6f11657504484112" Type="http://schemas.openxmlformats.org/officeDocument/2006/relationships/notesSlide" Target="../notesSlides/notesSlide5.xml"/><Relationship Id="R9135d49d580a48b4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b9cb7bf714e44704" Type="http://schemas.openxmlformats.org/officeDocument/2006/relationships/slideLayout" Target="../slideLayouts/slideLayout1.xml"/><Relationship Id="Rcefd598476a84f2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312755a9a3c47e6" Type="http://schemas.openxmlformats.org/officeDocument/2006/relationships/notesSlide" Target="../notesSlides/notesSlide7.xml"/><Relationship Id="R8f5d27c3ac61491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c276b4e157040e5" Type="http://schemas.openxmlformats.org/officeDocument/2006/relationships/slideLayout" Target="../slideLayouts/slideLayout1.xml"/><Relationship Id="Radc6eeabb7f2415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b989a0cf8fb74602" Type="http://schemas.openxmlformats.org/officeDocument/2006/relationships/slideLayout" Target="../slideLayouts/slideLayout1.xml"/><Relationship Id="Rfb6dd37d11ab426b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3612266bb7d4487d" Type="http://schemas.openxmlformats.org/officeDocument/2006/relationships/slideLayout" Target="../slideLayouts/slideLayout1.xml"/><Relationship Id="R6c5a4b9e9a244757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CBE840-DC90-4187-8D56-17AED17E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856909-8F78-4ED8-B593-8010FB73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000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1C017B-0609-4F87-B43D-B763FBB8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A39BD3-7707-43BA-A772-442D11FC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150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80D940-35CA-45F8-A978-31E6D6594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8572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323950-B7F1-4FAF-9D96-18A48BD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76200" cy="440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13289A-763A-4D80-9854-FE9B5287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81050"/>
            <a:ext cx="495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SDACS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FC553B-FF3F-4604-B530-BBC733C7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43050"/>
            <a:ext cx="552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Swarm Drone Airspace Control System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DEB8E8-3AE0-4401-91D4-AAB8B998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군집 드론 공역 관제 시뮬레이터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5E1539-7B87-4EAE-ACE4-3DF4339F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581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여러 대의 드론이 같은 하늘을 쓸 때, 누가 먼저 가고 누가 비켜야 하는가?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C174CA-E218-405F-9F84-45792848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76650"/>
            <a:ext cx="495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AAE611-E215-4A97-BEC5-E8E251B3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46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2ABE80-4AFB-4C34-BA80-57C38183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6242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Public deck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65B091-A8D3-44CC-A41A-E9F42AC2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95750"/>
            <a:ext cx="1485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46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396C0-4682-475C-B5CD-1257F063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62425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Updated 2026-06-18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641BA3-1484-4178-9BFD-3919A43C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095750"/>
            <a:ext cx="1562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46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FEB55B-2B58-444D-A2D4-37F4B014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162425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Simulation verified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D34AA5-013D-4E0B-BB88-C0DB5D46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9144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A014B2-5556-4708-8AA3-BC9630BC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9144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461"/>
          </a:solidFill>
          <a:ln xmlns:a="http://schemas.openxmlformats.org/drawingml/2006/main" w="0">
            <a:solidFill>
              <a:srgbClr val="EF6461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E019B4-8AC9-455C-BBFD-AB8BF9B4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066800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F6461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EF6461"/>
                </a:solidFill>
                <a:latin typeface="Malgun Gothic"/>
                <a:ea typeface="Malgun Gothic"/>
                <a:cs typeface="Malgun Gothic"/>
              </a:rPr>
              <a:t>45 collisions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ACC8B5-93F8-4CF8-B276-6EB42D70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2875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100-drone 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4F1337-E2D5-438B-BBBB-3F4D3788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657350"/>
            <a:ext cx="1657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60 s / seed 42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76FA44-31EC-4998-A1F4-1CA1A694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9144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34D3F5-F241-4F7E-8C29-94B68154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9144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EE1770-A9FE-4E77-9104-41FA9F7F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066800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5,444 pass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ABB160-7A3E-4801-B82C-4839AF0D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42875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Python tests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FF0C3B-FACC-40F2-B6DB-94D9A2EF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57350"/>
            <a:ext cx="1657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270 skipped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B4F4FC-E8B2-49D5-833D-B263FB0C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098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241BB0-CDDF-4D8B-A4C3-0698C226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098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DF5269-3D20-4C78-B12C-23A3E9B1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362200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95.9%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09EA1C-47CF-4FC5-8BDC-CDFA67DB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2415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conflict handling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158EEF-E103-4038-B1DD-2FF1CA3F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52750"/>
            <a:ext cx="1657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1,053 conflicts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F67BD0-4024-488C-B7F3-43218145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098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76871A-9B87-4762-B560-43193044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098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6D70B7-ECAA-4539-8B98-8CA2022E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362200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0 dropped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352592-9B35-4503-9B58-2816DDD3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72415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communication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11E884-C006-4ACC-90DD-9823A021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952750"/>
            <a:ext cx="1657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12,278 delivered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109920-91B0-4F09-B8C9-E38344C2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05250"/>
            <a:ext cx="4191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A research simulator for measuring conflict prediction, ATC-style advisories, and the safety gaps that remain before real-world flight trials.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FE38A5-F174-4738-9C8F-CE6EB2FC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685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1 / 10</a:t>
            </a:r>
          </a:p>
        </p:txBody>
      </p:sp>
    </p:spTree>
    <p:extLst>
      <p:ext uri="{BB962C8B-B14F-4D97-AF65-F5344CB8AC3E}">
        <p14:creationId xmlns:p14="http://schemas.microsoft.com/office/powerpoint/2010/main" val="10366156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46E750-1799-48B0-BB50-1498069C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B56DDA-956F-4CD3-8967-5CBF0699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000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42E76F-F993-4E7E-B898-825423D8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7B541F-38AB-4E9F-8E79-7D48AF7A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150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7103D-3D6C-490A-9058-2B199D2A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8572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AEE8C-BBBD-4832-8209-9F86F98F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WHY IT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5438E-4C46-4904-83C1-6ED19FA1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드론이 많아질수록 하늘은 교차로가 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766889-6EA0-4C9E-850A-C7C849AA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고정 항로와 사람 관제만으로는 밀집 상황, 날씨, 배터리, 통신 지연을 모두 처리하기 어렵습니다.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BF69C-9D61-445A-B52B-9C76E234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3143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0C22A4-1EC1-4118-B016-E4A5DA24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571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7783AE-81E9-47D0-A8A9-3A90DF1D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533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6FCF43-9C8C-4C4C-B014-E5BAD4F6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공역 혼잡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81C3F1-24DD-4A4A-AD58-B172AD1F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26098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배송, 촬영, 점검, 재난 대응 드론이 같은 저고도 공역을 공유합니다.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FA1541-7F12-4B29-B1F2-82064CEF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3143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94496D-C8E1-47B8-8197-63DBC876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571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2E6326-47FF-4F29-88E3-3372B345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533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9A6106-9A48-47EF-B9EE-DB336966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241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상황 변화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65DF31-0760-4DF6-AA68-FE534D85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76600"/>
            <a:ext cx="26098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바람, 금지구역, 배터리 부족, GPS/통신 문제가 비행 중에도 계속 발생합니다.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B2E6E8-2394-4E37-B48F-F20C4CCD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76450"/>
            <a:ext cx="3143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6742EB-E611-4E67-9C5A-2654A1B4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76450"/>
            <a:ext cx="571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22CCF5-2DAB-4A8E-8166-3935AA2E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66950"/>
            <a:ext cx="533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1A38FF-78E2-43B7-84BC-15129C98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241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검증 비용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8CA05F-6A3D-44AA-B066-EEE96A110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76600"/>
            <a:ext cx="26098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실제 비행으로 모든 위험 상황을 실험하기 어렵기 때문에 재현 가능한 시뮬레이터가 필요합니다.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410AE2-A1EC-4BFA-89D7-8686F882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101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SDACS의 역할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4A1990-F06B-4AF2-95CE-09C81C07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809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드론의 현재 상태를 보고, 가까운 미래의 충돌 가능성을 계산하고, 필요하면 관제 권고와 경로 재계획으로 실제 충돌을 막습니다.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C5AB55-DD8D-4BA6-810A-17EE5B6B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8BB07D-82B7-42D5-B72F-71F29CB2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2 / 10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D38CDF-EA7D-47DF-A0D6-096D23A0C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54756436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87EB6E-EE62-4F2E-99E7-9D6DBC67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9A9E2-DFD1-4F2D-82AE-11FCE3C0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000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F83EB3-6EA7-4E8C-A398-4C4426EE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B7509-14C3-45B6-ABF4-B3FEEAC6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150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16102-DB89-48D8-9601-3920EF10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8572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602C5E-AEAE-408F-8F0D-E6A37F56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CORE IDEA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32CED-A4FC-4677-9ECE-69D5C025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SDACS는 안전 루프를 반복 실행합니다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D535F-C54E-4901-9411-07829B5E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감지, 예측, 권고, 재계획, 관찰을 하나의 검증 가능한 흐름으로 연결합니다.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A361AF-7D28-4BD2-8CDF-1AAC0550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66950"/>
            <a:ext cx="17716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58F40E-73E1-4087-B4A1-C905E711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6695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D45520-E977-41F9-AC2F-2A4E49CF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Sense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299692-680F-453A-85D3-B79D84D5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14478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위치, 속도, 임무, 배터리, 통신 상태 수집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FCA0A5-91AE-4772-8C16-8F320657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05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26850E-3995-4DED-AF72-6C1B4704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57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00FD7B-B2F7-4C9E-95B1-654ADF0F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66950"/>
            <a:ext cx="17716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4A7FFC-D77F-4E9A-83FF-E5031642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6695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0B19FB-A019-4ADE-A82F-A6AC4E05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003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Predict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619548-1344-4A63-8612-D67D7038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86050"/>
            <a:ext cx="14478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CPA 기반 접근 위험과 near miss 후보 계산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62B38B-C33E-4DAE-8D9E-A3B107A7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05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8D6C33-73EF-4822-86E6-C48808A6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57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55CF58-C7F7-4E23-A25E-AECE5838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66950"/>
            <a:ext cx="17716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4CC719-D040-4F1E-ACAE-A48FE9DD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6695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A8381B-AB93-415E-9CD9-B8FDFE08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4003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Advise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83A665-3FC0-4F6F-9B51-6FA75B01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86050"/>
            <a:ext cx="14478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속도, 고도, 대기, 복귀, 회피 권고 발행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A5F909-3306-4CB7-A85A-59A932F5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05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A018EC-F74E-4F9C-AFC1-62B131F2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57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D49BF4-DB5F-4727-9641-FB5CD604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266950"/>
            <a:ext cx="17716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0D6A90-FABC-4E54-B215-EE1DC1F9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26695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D3CEB1-F6B0-4A74-9209-79DFB72D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003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Replan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8EAC02-FFFC-43D3-8AE4-00F8CD5D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14478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APF, CBS, A* fallback으로 안전 경로 조정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BC3340-BD6B-4DF2-8315-450BF778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05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7D41FA-535F-4300-8A0D-30932E3D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57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B812CD-632C-453B-BD29-4A78E5DC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266950"/>
            <a:ext cx="17716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809F7A-D2BD-4743-8A69-C70916C3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26695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D2F6E2-BC81-4756-8840-0EA0C519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003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Observe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DC498D-AFC6-46C9-8D77-500551BC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86050"/>
            <a:ext cx="14478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충돌, 거리, 에너지, 통신, 해결률 KPI 기록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CE5D19-D4CB-4C12-8B59-5CF83B7A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91050"/>
            <a:ext cx="981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이 루프는 시뮬레이션의 매 순간 반복됩니다. 그래서 단일 회피 알고리즘이 실패해도 관제 권고와 재계획 단계가 위험을 다시 잡아냅니다.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FE9468-84AC-4925-9C03-53A2BA64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FFEF779-F260-4B1F-A202-E4857D2B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3 / 10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258FB0C-9C47-4468-93E9-6A589529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67160806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35CD2E-0720-410F-AB62-96B363E8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992115-AFF7-4CE2-839F-E6B76DF1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000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8EB3E-7BA5-4D98-B8AB-3D361D12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57ED17-2A76-4D4D-BF75-0F00716F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150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E764E2-812F-41EE-A247-6A4F0306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8572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C6075-7EA4-49AE-B194-B275DAF1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ARCHITECTURE 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D6842-5190-4CB3-BEEC-98107772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시뮬레이터, 관제기, 경로계획, 분석이 분리되어 있습니다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30A17-6AEA-4B49-8C5C-10E6C045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대중 설명에서는 단순하게 보이지만, 내부는 검증과 확장을 위해 역할을 나눕니다.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4B253-36DD-4262-AF8B-5250DCF6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809914-CB8B-4953-8E11-85D02814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6C9B0C-82E8-4BD7-BBE5-644E69A5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CLI /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6D1459-7BBD-4546-A624-F8A376F4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main.py, FastAPI, WebSocket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5CF675-0A49-401B-ABDE-781A62D5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7FC35B-1E38-4C0F-8369-09DD3259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46A9AC-6A70-4364-8CED-7698AC6A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3D / Dashboard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A8867E-A481-46F1-8332-A60AFEE0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HTML, Plotly, telemetry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A55AE9-4C04-4131-9433-DEACBFBE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62150"/>
            <a:ext cx="2667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FEE86B-78D1-49BC-83E1-CE3E648A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6215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C89F13-8DAC-4E70-B2F7-CD2902F3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14550"/>
            <a:ext cx="2324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Airspace Controller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B17824-3CBC-47E1-8F6C-A66C9248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38400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conflict detection, advisories, priorities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BBE590-AB98-480E-B721-6639BFF5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05200"/>
            <a:ext cx="2667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26B0C6-5990-44BC-9E63-4632443D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0520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77E08-FE58-4022-9410-5DFEA0EF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657600"/>
            <a:ext cx="2324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Planner / Avoidance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6B3978-7964-42B5-84AC-49F5DC56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81450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APF, CBS, A*, fallback policies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B38FAF-126F-4301-9E70-199E252E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38350"/>
            <a:ext cx="228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300AE9-8432-4E36-AB73-25D5C0CC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383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9C4066-4D13-4511-8C9D-E93A1959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9075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Simulator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1F7582-9724-48BE-86E3-E66F59A4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51460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SimPy events, drones, weather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F09576-1C66-485C-8BAF-3B655B17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43300"/>
            <a:ext cx="228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0CB398-9E96-486F-B88D-89FB8929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433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884AFF-ECF9-4055-A1D8-75216293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6957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Analytics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C7ADF7-1087-463F-B310-8A642074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1955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KPI, event logs, reports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D7808D-B1F7-4124-B16C-38EDD2C7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57450"/>
            <a:ext cx="1581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638F0F-B0EC-4017-AC3E-618EE505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09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EDAD2A-1299-45D9-B0D8-56D204EF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943350"/>
            <a:ext cx="1581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965813C-3BAC-4CAC-8C27-CCCF4AE7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95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D531AB-B823-468E-83E3-F5145666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57450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76CADE-B6C5-40CF-A276-12E1FC55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9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24BAEB-2147-4EF5-A6C9-F087C39B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00500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91FD25-9CC7-4C87-A87B-760FD5E3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0A3D77-1F5D-4994-8253-D926A43E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90850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AA96ED-1A15-46CE-A702-2969158E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14650"/>
            <a:ext cx="285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436F826-B85D-45C4-A0E0-CC83FEA1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9906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검증 포인트: 관제 판단과 시뮬레이터 상태가 분리되어 있어 테스트에서 위험 상황을 재현하고, 결과 KPI를 같은 방식으로 비교할 수 있습니다.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D770F5-F20D-4DBA-AFF4-D90D9FC8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E39821-F127-4C8A-9ABF-E8682AD3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4 / 10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19ECFAA-E13A-425E-9799-F44D1E14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58631750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2FF906-C83D-4E3F-99AF-FB003D96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7D601-761C-4FE4-84A7-8BCFC9CF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000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44DA0E-A4FD-4CF6-8767-0905CCB5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14D178-14B7-4D07-9241-5A197AC6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150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DF90F-C236-4C8A-B7CC-A2B5ADF0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8572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86F86-AC07-4948-90F6-C8999C33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SAFETY STACK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1D72D2-A4BF-4371-BF2B-2A3EDAC9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충돌 방지는 한 가지 기법이 아니라 겹겹의 안전망입니다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8901A6-24B3-4272-AE5C-64CE41C3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예측, 회피, 재계획, 관제 권고가 서로 보완합니다.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D1DAB2-0D79-4647-ADA7-EFC5C930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4CD77E-BA08-41CC-AA0F-582791B7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812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497AE7-D201-462B-B4A8-56C91723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47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A6B021-8069-4B54-B37F-E428B4BC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002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CPA 예측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9EA46E-3A9F-48A4-AC62-3EAAD8B1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09775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가까운 미래에 두 드론이 얼마나 근접하는지 계산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F2E091-DE79-44F6-9BA1-0D89678E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A29E8A-CA70-4CD8-B74D-FEAAF976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241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00FCBF-E5FE-4141-A57D-12BBDC75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908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3AE6FF-B955-45B1-9289-4D3A8FC0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32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APF 회피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31461-7C39-4836-A48C-9F8678F9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52725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가까워지는 드론을 가상의 힘으로 밀어내듯 회피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98AEF0-28C6-4E06-9991-BA13994C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7185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256B36-58BB-4786-B36E-7F9B12B1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D47F5F-921C-49B0-8B83-7D78444F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337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27FD3F-5D9F-49C0-A794-FD6950CE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4861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CBS 조정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077B85-71D1-4461-AF94-D0E17FE1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95675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여러 드론의 경로 충돌을 제약 기반으로 조정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6F23AE-E6C1-4FF7-9E5D-AE921E84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132025-39D6-454F-B56F-64D9C32D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00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6CEC13-DA3D-46E1-ACD8-0F8F87A4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767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54CDB7-3EC0-4138-B2B4-E5057475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229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A* fallback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E4CB80-6C36-4625-AB16-EC1F4766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238625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세부 격자 경로가 필요할 때 안전한 대체 경로 탐색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9A8591-13AC-4810-A5FC-E51E9B17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431226-378E-48A5-BFFC-C018AB25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7122E0-D273-4F82-BFA3-6C6EAFC4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44E40C-617C-4839-8F49-3F530F09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9720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ATC advisory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0C6AB1-AF2C-4A40-BFA0-30109021F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981575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대기, 복귀, 고도/속도 변경 같은 관제 지시 발행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F1509D-9168-455D-BF27-ADD10C34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933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핵심은 실패 지점을 하나로 만들지 않는 것입니다. SDACS는 위험 탐지와 대응을 여러 단계로 나눠, 충돌 직전이 아니라 그 전에 조정합니다.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FE97F0-A78D-411F-B45B-D2D9C5FF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AC07E0-1A20-4332-A57B-6F6E4E7C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5 / 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B3FDDD-7D90-4D8D-88AB-E811FA08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62463559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0679DC-1588-4D66-AE48-55400961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74A30-4BB8-4D7B-A176-FC0165A2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000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8C804C-3D8B-4E55-9645-38385DAD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C1B7D1-36FC-438E-9FB2-A371B9A9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150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720CB2-D071-4763-94C4-E6C976D7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8572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4830F9-CFBE-4B1D-AA02-59F4B044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VERIFIED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FF3F3-F892-44C2-8074-A42D2C0F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최신 로컬 검증 결과를 공개 자료의 기준으로 사용했습니다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40F89-741D-4B10-B96E-A4B8AC8F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2026-06-18: 100대, 60초, seed 42 대표 실행과 전체 Python 테스트 스위트 기준.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F53F0-FC9A-4A7B-980F-DF77286C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2343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B973DC-B7EB-419A-8A27-17358A53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461"/>
          </a:solidFill>
          <a:ln xmlns:a="http://schemas.openxmlformats.org/drawingml/2006/main" w="0">
            <a:solidFill>
              <a:srgbClr val="EF6461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3F716A-E7A5-4504-93E1-A7870260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F6461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EF6461"/>
                </a:solidFill>
                <a:latin typeface="Malgun Gothic"/>
                <a:ea typeface="Malgun Gothic"/>
                <a:cs typeface="Malgun Gothic"/>
              </a:rPr>
              <a:t>45 collisions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B93F36-AEC7-49ED-95FF-EAD04E2C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simulation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AEA987-CC45-4476-8409-76B03E86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near miss 87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67D4A9-AA04-4417-AA58-8F612ECA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81200"/>
            <a:ext cx="2343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9D8996-05E0-4DB1-AB76-7B954CF6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812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304E3E-C3A8-4545-ABD4-7CE39F12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3360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5,444 pass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B23CA0-791B-45D1-AECD-04286F14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955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pytest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29EC7-F2DC-40B3-B70E-24BC8C2E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724150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270 skipped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E53E3F-1F6A-4B15-8D67-D51F3521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981200"/>
            <a:ext cx="2343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8BC501-F5BA-43A6-9469-0377A8AF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9812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40DB3D-F38D-44E9-9D9F-F4DC0D7E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3360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95.9%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0067BF-C7BD-4A6C-9B2E-327B529E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conflict resolution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3CED8D-9CFB-40A7-BA3F-5E8FF483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24150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1,053 total conflicts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660B76-70A0-45A0-B6AE-CB8A4839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81200"/>
            <a:ext cx="2343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AD1945-E056-4229-AEC2-96874673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812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BE2F4D-7F06-45DB-8A2A-70F577F7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3360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0 dropped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5C326B-6598-4908-8C62-89B9827F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955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communications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EDAF15-FFE2-4840-8EAB-42A92258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24150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12,278 delivered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4F6A59-CD8F-4B49-BDF2-FB7F7C6C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65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468807-27CC-4389-A333-B39BB7CA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004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KPI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799E1D-45EA-4C12-89B8-6060AF45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5242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65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D258B1-FCA6-4CDA-A8D6-79D31FEE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004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Result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4E658A-BE1C-483E-AECA-E74769C7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5242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65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38624A-3F29-4E1C-9C32-05966B30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6004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KPI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69CC76-109E-4C6D-B4CC-C927D214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242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65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AE8A30-4986-498F-9F5C-A5C834D2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004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Result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5BE2EA-5137-471F-BB9F-362A31E0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876"/>
          </a:solidFill>
          <a:ln xmlns:a="http://schemas.openxmlformats.org/drawingml/2006/main" w="0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AFD8E0-C084-4229-BEE2-64F8F067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243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4A0977-1CB0-4179-9EB9-3E4B13B7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005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Advisories issued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1E31F8-541A-490D-8A62-D09D6686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9243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876D6D-B2DB-4C08-B3D2-2FB8139D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005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178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F818D7-AB03-4398-A7FF-9FB050C11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243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383407-0730-4AAF-85F4-3FB717043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005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Completed legs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E0B22BB-22BF-4A97-96CA-59EE9C00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243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524D63A-5B1C-481D-86D4-85ECE763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005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DCF8779-CDA0-4E8F-A6E1-301CEF9D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2430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876"/>
          </a:solidFill>
          <a:ln xmlns:a="http://schemas.openxmlformats.org/drawingml/2006/main" w="0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B561A4-F983-46E7-8EEC-18BDB1F1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8985141-9BB3-4985-A0F9-B4724F53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00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CBS attempts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B96C1A7-39C1-4ECE-A3E9-30EFF7F1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243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7F5A31F-4F50-4C15-9E2C-E02827C0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00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5 / 5 success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7AF3A68-406E-4469-B072-303E24BA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3243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4F9C6E3-B22E-4FAF-B76B-5E31551F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00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A* fallbacks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0196BF6-782B-4D44-B3A8-159A35EC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3243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9F19B0-A9EB-4F02-AB7E-611EAFD6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400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8E6B9AB-9C3A-4064-A893-035B9ECB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876"/>
          </a:solidFill>
          <a:ln xmlns:a="http://schemas.openxmlformats.org/drawingml/2006/main" w="0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6A2741F-660A-4DE3-B72B-8011115B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3FB1FF5-13ED-4776-94B8-F6E2FD73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006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Total distance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DE5FC06-101A-42BD-9131-0CA378CD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24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495E04B-0C87-48DA-98C7-3291AF6C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006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45.841 km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286DE46-049C-4D4F-B89A-BECE5B01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24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6C3BE60-D102-4663-B164-11A387B8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8006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Energy efficiency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B9245A9-2799-4230-B964-2107CC55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724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694B9AC-24A4-4E4E-A881-B9C607B2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006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5.08 Wh/km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BE63EC1-92B3-4911-8B89-7320A06C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876"/>
          </a:solidFill>
          <a:ln xmlns:a="http://schemas.openxmlformats.org/drawingml/2006/main" w="0">
            <a:solidFill>
              <a:srgbClr val="2B58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87304E2-7F8B-48FC-9A35-5E620642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9715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검증 명령: python -m ruff check .  |  python -m pytest -q -n 0 --no-cov  |  python main.py simulate --duration 60 --drones 100 --seed 42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8C2D61D-E5EB-4497-9CE5-EC8F10D5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90550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EF646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F6461"/>
                </a:solidFill>
                <a:latin typeface="Malgun Gothic"/>
                <a:ea typeface="Malgun Gothic"/>
                <a:cs typeface="Malgun Gothic"/>
              </a:rPr>
              <a:t>현재 결과는 안전 인증이 아니라 개선 기준선입니다.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28DD08E-DFCD-4A03-997C-1DE50D88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48A1B5C-3F94-47AD-BFDA-F8638E5E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6 / 10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DA5B5F4-9A72-4343-BEFF-84C0EA78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52004741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D8AA55-5E3A-49C5-8D81-F7552214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BD4A03-74FD-45BC-9813-8D91A29C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000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7F3234-706A-4C93-AD55-940F02D0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ACF272-A471-46E3-818E-6944E12F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150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BAA9B2-E8CD-4467-B176-402F2689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8572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3C20CB-D475-4574-A337-21CD0775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WHO CAN USE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7E87EF-5DD8-434C-88C2-53998FBA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공개 설명의 초점은 이해 가능한 가치입니다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FB5113-0C12-455D-B0C0-D8277FDF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연구용 시스템이지만, 각 이해관계자가 보는 질문은 다릅니다.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A4662-7E26-4B44-8059-1CA85727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4629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DB653-435A-4D2E-BD3E-2834ED85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57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8775CE-B1E6-4E7F-83FD-6EF8D34C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학생 / 연구자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437476-3B25-468B-BE1F-D0E58A65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09850"/>
            <a:ext cx="398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충돌 예측, 경로 재계획, 시뮬레이션 실험을 재현 가능한 코드로 학습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D41114-4E34-4D6A-BA7E-BFAC514C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38350"/>
            <a:ext cx="4629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48717E-409D-4042-96F9-3B56F6BC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38350"/>
            <a:ext cx="57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269BC1-D681-409A-BB14-07816D035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2885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드론 운용자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BCA76C-E7C6-4041-8975-FC0C34E3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09850"/>
            <a:ext cx="398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밀집 운용 전에 위험 시나리오와 관제 정책을 낮은 비용으로 점검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96269E-722C-422F-9D15-3E10F271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4629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049BE9-70E7-4A04-8CB0-BCE64591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57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045CEF-CE23-479E-91C7-B7FC53D5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공공기관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10366B-F72E-4680-871A-9E62D83F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398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재난, 행사, 시설 공역 운용 절차를 시각 자료와 KPI로 설명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A22F38-0F51-4242-9E7E-6BAF40AF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48100"/>
            <a:ext cx="4629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EF6461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E76572-797B-4081-96FE-026F155D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48100"/>
            <a:ext cx="57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461"/>
          </a:solidFill>
          <a:ln xmlns:a="http://schemas.openxmlformats.org/drawingml/2006/main" w="0">
            <a:solidFill>
              <a:srgbClr val="EF6461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66D01F-81D7-4AFB-9559-CC546BC2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F6461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EF6461"/>
                </a:solidFill>
                <a:latin typeface="Malgun Gothic"/>
                <a:ea typeface="Malgun Gothic"/>
                <a:cs typeface="Malgun Gothic"/>
              </a:rPr>
              <a:t>일반 대중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CFF8D1-538A-4A66-81B5-9C7EB983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19600"/>
            <a:ext cx="398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왜 드론 교통관리가 필요한지 3D 시뮬레이터와 발표자료로 이해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89C177-B30A-407C-A479-924E55FA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공개용 보고서와 PPTX는 이 네 대상이 같은 자료를 보더라도 각자 필요한 정보를 찾을 수 있도록 구성했습니다.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BC0935-823B-4D7A-B00A-28A9F120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DE125B-618B-4595-BFD2-7C80F958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7 / 10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567084-D537-4BDA-AA6C-EA6B7C6F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55545246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616E83-A611-49DC-9406-6F80353C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2C487-0672-463A-A089-F3602DA3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000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690444-C2C7-44E9-978C-75E52AF2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D7689-20D8-45E2-AF92-CBCA5DD5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150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69951-A31E-4766-B86B-05EE53A0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8572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31EFD7-23EE-48E7-9B51-B1BDA781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REPOSITORY 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53C14-052C-4EC5-9FF5-12BA2D7D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README에서 바로 이어지는 탐색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E3F34-F421-4DC8-9137-61C1E82C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코드를 직접 보려는 사람과 문서만 보려는 사람 모두에게 짧은 입구를 제공합니다.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C34847-B373-4D6D-AAAD-7ABD9E60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46863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65B68C-5692-4DCD-9C93-612EC417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571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749927-ACE3-4E82-8DFA-BF40CBCF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526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Code paths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02D8B-975E-4457-91BB-1A0E28B3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47950"/>
            <a:ext cx="3848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main.py simulate</a:t>
            </a:r>
          </a:p>
          <a:p xmlns:a="http://schemas.openxmlformats.org/drawingml/2006/main">
            <a:pPr algn="l">
              <a:def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simulation/  engine, drones, ATC loop</a:t>
            </a:r>
          </a:p>
          <a:p xmlns:a="http://schemas.openxmlformats.org/drawingml/2006/main">
            <a:pPr algn="l">
              <a:def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src/         API, analytics, security, models</a:t>
            </a:r>
          </a:p>
          <a:p xmlns:a="http://schemas.openxmlformats.org/drawingml/2006/main">
            <a:pPr algn="l">
              <a:def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tests/       unit, integration, CLI, simulator</a:t>
            </a:r>
          </a:p>
          <a:p xmlns:a="http://schemas.openxmlformats.org/drawingml/2006/main">
            <a:pPr algn="l">
              <a:def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benchmarks/  scenario manifests and comparisons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06BA47-02F2-410D-A592-5831EC59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43100"/>
            <a:ext cx="46863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04CFB8-F1AB-4E6D-B472-27EAD987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43100"/>
            <a:ext cx="571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ED4727-D48E-4D8D-95EE-7E8CB541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5265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Public materials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3E952B-C7B0-4DBD-8AF6-DBAB9956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3810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README.md</a:t>
            </a:r>
          </a:p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docs/INDEX.md</a:t>
            </a:r>
          </a:p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docs/report/SDACS_Public_Project_Report_2026.docx</a:t>
            </a:r>
          </a:p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docs/presentation/SDACS_Public_Project_Overview_2026.pptx</a:t>
            </a:r>
          </a:p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docs/demo/ and existing capstone materials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224E12-0884-4779-B3AC-8D26685D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81650"/>
            <a:ext cx="962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최적화 포인트: README 상단에 최신 공개 자료와 검증 수치를 묶어, 처음 방문한 사람이 프로젝트의 목적과 현재 신뢰도를 즉시 확인하도록 정리합니다.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9F128E-3385-4919-95D0-0B4F0CEB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0E27A6-E79F-40DE-8BC7-544CC780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8 / 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7ABEF9-FA35-4A92-A77A-272A7DEC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3705919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F2FBF0-7D77-4283-BD46-1B471803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94BC2A-D3EC-4A10-B2AA-26998DE8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000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403EB-CFA4-4077-932A-578DDD51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DDC527-93EA-4868-8E5B-5065C51A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150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B1ACF-DFBF-4552-A67F-7036BFB8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8572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295C1F-A85F-43C3-BECD-66CE9582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MATURITY &amp; LIMITS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BABC4C-B6F4-4003-8185-882B7261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현재 증명한 것과 다음에 증명할 것을 분리합니다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0E731D-F31A-4AAC-B953-CE93A48C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대중 설명 자료는 장점을 말하되, 실제 운용 전 검증이 필요한 영역도 함께 표시합니다.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D38F8-30F5-4B08-A117-B7D5BA14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19300"/>
            <a:ext cx="48196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293CD-9A6C-4380-9E38-7196362C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19300"/>
            <a:ext cx="57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07D547-BD72-4544-AD19-AF100197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47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Validated now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2773BE-7F87-44E0-99B4-54ACCB53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81300"/>
            <a:ext cx="3714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• 100대 60초 대표 시뮬레이션</a:t>
            </a:r>
          </a:p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• 충돌 45건, 해결률 95.9%</a:t>
            </a:r>
          </a:p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• Python 테스트 5,444건 통과</a:t>
            </a:r>
          </a:p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• 통신/에너지/KPI 수집</a:t>
            </a:r>
          </a:p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• 보고서와 PPTX 공개 배포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CA9D3A-4A8C-4AC8-98DF-4D67ED60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19300"/>
            <a:ext cx="48196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C87868-88DA-41A2-B6CF-8C3C3DA2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19300"/>
            <a:ext cx="57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1C4B61-A0ED-4AD9-A871-6ACA6B63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47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Next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453469-1E5C-4761-8331-896D9B36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81300"/>
            <a:ext cx="38290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• 더 큰 드론 수와 장시간 운용</a:t>
            </a:r>
          </a:p>
          <a:p xmlns:a="http://schemas.openxmlformats.org/drawingml/2006/main">
            <a:pPr algn="l">
              <a:def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• 실제 센서/HITL 연결 검증</a:t>
            </a:r>
          </a:p>
          <a:p xmlns:a="http://schemas.openxmlformats.org/drawingml/2006/main">
            <a:pPr algn="l">
              <a:def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• 동적 금지구역/날씨/통신 지연 분리 벤치마크</a:t>
            </a:r>
          </a:p>
          <a:p xmlns:a="http://schemas.openxmlformats.org/drawingml/2006/main">
            <a:pPr algn="l">
              <a:def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• 공개 데모 UX 단순화</a:t>
            </a:r>
          </a:p>
          <a:p xmlns:a="http://schemas.openxmlformats.org/drawingml/2006/main">
            <a:pPr algn="l">
              <a:def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• 수치 출처 자동 갱신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02FA8-7DFF-4DF8-A134-8610CF76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10200"/>
            <a:ext cx="941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현재 대표 실행에는 충돌이 남아 있습니다. 이를 숨기지 않고 개선 기준선으로 공개하며, 실제 운용 전 안전 검증 계획을 분리합니다.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7A4E02-3F29-4CA6-BE98-A581F38D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5587E4-90A4-4463-99A6-BF119D0C1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9 / 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6A1D2E-E812-48FF-80D3-D1B780DB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3413920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92C22E-9D84-4C7A-AA9A-9321BFD3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0">
            <a:solidFill>
              <a:srgbClr val="0B1F36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C1B91-1449-43A3-8BB6-3EF032B0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000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822EB5-1DB3-422C-95E7-6E39CA15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8F961-5EC2-4415-9EFE-ECE48518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150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6049DE-A755-4162-AC3A-B4A4F2C8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8572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  <p:txBody xmlns:a="http://schemas.openxmlformats.org/drawingml/2006/main">
          <a:bodyPr wrap="square"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6156F6-2055-4154-ABE6-1F8EE67B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7429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How to read or try SDACS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EF934C-384C-4E2C-9868-426D1AB15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781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README에서 공개 보고서, 공개 발표자료, 시뮬레이션 명령을 한 번에 확인할 수 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30653-4159-4D18-B7EC-D4847F38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9448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E3C0D7-3D29-48B4-81E1-2D442E13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BD9CD6-2D28-46A7-B3BA-8189A994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0027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DB5311-4C3A-46CC-9F58-06B6BF8A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00275"/>
            <a:ext cx="1219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BFEA64-509E-496F-AA80-162E397C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09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README.md → Public Project Materials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517F6-04D0-4572-98CB-1FDC0375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9448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C6D66F-8FC3-45D9-932D-DD3290DD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93B09C-E8C0-4031-8C36-C96E6702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0037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2E0700-CEBF-401A-9A48-310C8AFA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00375"/>
            <a:ext cx="1219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Verify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A9B315-1A8D-40B7-B00F-E63D5A38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99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python -m pytest -q -n 0 --no-cov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53C223-58A8-47B3-8939-1FB0307F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76650"/>
            <a:ext cx="9448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1FCFCD-C781-42DB-951B-CC077410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766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CC6F5E-9F34-49A7-8FE8-9535D5E1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0047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9C505F-59D6-4EDF-B617-C2CCDFDD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00475"/>
            <a:ext cx="1219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Simulate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1B5E9B-AD40-42A7-BC66-E39C5E90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100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python main.py simulate --duration 60 --drones 100 --seed 42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433050-D333-494C-9D39-9B731263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9448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4A38D6-7B7A-4AEC-9CD2-FA20BFD3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850199-BDFA-4B33-9E6D-E1517468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0057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FB02E3-141E-4BF3-8E7E-6932010A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00575"/>
            <a:ext cx="1219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Present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AEEFD7-8C52-42FF-B2C2-7DA99F75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101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docs/presentation/SDACS_Public_Project_Overview_2026.pptx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944DBF-1D61-4901-A46D-942A4C20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666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Public deliverables updated on 2026-06-18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754113-169F-44ED-8989-263C8174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9245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10 / 10</a:t>
            </a:r>
          </a:p>
        </p:txBody>
      </p:sp>
    </p:spTree>
    <p:extLst>
      <p:ext uri="{BB962C8B-B14F-4D97-AF65-F5344CB8AC3E}">
        <p14:creationId xmlns:p14="http://schemas.microsoft.com/office/powerpoint/2010/main" val="7716974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2026-06-18T05:46:32.7780000Z</dcterms:created>
  <dcterms:modified xsi:type="dcterms:W3CDTF">2026-06-18T05:46:32.7780000Z</dcterms:modified>
</coreProperties>
</file>